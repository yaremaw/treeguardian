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Помір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80" d="100"/>
          <a:sy n="80" d="100"/>
        </p:scale>
        <p:origin x="880" y="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841771"/>
            <a:ext cx="4711446" cy="3101578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uk-UA" sz="7200" dirty="0">
                <a:latin typeface="Aptos Slab Black" panose="020B0004020202020204" pitchFamily="34" charset="0"/>
              </a:rPr>
              <a:t>Вартовий Дерев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9604" y="773463"/>
            <a:ext cx="2735746" cy="3327094"/>
          </a:xfrm>
          <a:custGeom>
            <a:avLst/>
            <a:gdLst>
              <a:gd name="csX0" fmla="*/ 0 w 2735746"/>
              <a:gd name="csY0" fmla="*/ 0 h 3327094"/>
              <a:gd name="csX1" fmla="*/ 738651 w 2735746"/>
              <a:gd name="csY1" fmla="*/ 0 h 3327094"/>
              <a:gd name="csX2" fmla="*/ 1395230 w 2735746"/>
              <a:gd name="csY2" fmla="*/ 0 h 3327094"/>
              <a:gd name="csX3" fmla="*/ 2133882 w 2735746"/>
              <a:gd name="csY3" fmla="*/ 0 h 3327094"/>
              <a:gd name="csX4" fmla="*/ 2735746 w 2735746"/>
              <a:gd name="csY4" fmla="*/ 0 h 3327094"/>
              <a:gd name="csX5" fmla="*/ 2735746 w 2735746"/>
              <a:gd name="csY5" fmla="*/ 698690 h 3327094"/>
              <a:gd name="csX6" fmla="*/ 2735746 w 2735746"/>
              <a:gd name="csY6" fmla="*/ 1397379 h 3327094"/>
              <a:gd name="csX7" fmla="*/ 2735746 w 2735746"/>
              <a:gd name="csY7" fmla="*/ 1996256 h 3327094"/>
              <a:gd name="csX8" fmla="*/ 2735746 w 2735746"/>
              <a:gd name="csY8" fmla="*/ 2694946 h 3327094"/>
              <a:gd name="csX9" fmla="*/ 2735746 w 2735746"/>
              <a:gd name="csY9" fmla="*/ 3327094 h 3327094"/>
              <a:gd name="csX10" fmla="*/ 2024452 w 2735746"/>
              <a:gd name="csY10" fmla="*/ 3327094 h 3327094"/>
              <a:gd name="csX11" fmla="*/ 1395230 w 2735746"/>
              <a:gd name="csY11" fmla="*/ 3327094 h 3327094"/>
              <a:gd name="csX12" fmla="*/ 656579 w 2735746"/>
              <a:gd name="csY12" fmla="*/ 3327094 h 3327094"/>
              <a:gd name="csX13" fmla="*/ 0 w 2735746"/>
              <a:gd name="csY13" fmla="*/ 3327094 h 3327094"/>
              <a:gd name="csX14" fmla="*/ 0 w 2735746"/>
              <a:gd name="csY14" fmla="*/ 2661675 h 3327094"/>
              <a:gd name="csX15" fmla="*/ 0 w 2735746"/>
              <a:gd name="csY15" fmla="*/ 1996256 h 3327094"/>
              <a:gd name="csX16" fmla="*/ 0 w 2735746"/>
              <a:gd name="csY16" fmla="*/ 1364109 h 3327094"/>
              <a:gd name="csX17" fmla="*/ 0 w 2735746"/>
              <a:gd name="csY17" fmla="*/ 665419 h 3327094"/>
              <a:gd name="csX18" fmla="*/ 0 w 2735746"/>
              <a:gd name="csY18" fmla="*/ 0 h 3327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735746" h="3327094" fill="none" extrusionOk="0">
                <a:moveTo>
                  <a:pt x="0" y="0"/>
                </a:moveTo>
                <a:cubicBezTo>
                  <a:pt x="360763" y="8596"/>
                  <a:pt x="472427" y="22790"/>
                  <a:pt x="738651" y="0"/>
                </a:cubicBezTo>
                <a:cubicBezTo>
                  <a:pt x="1004875" y="-22790"/>
                  <a:pt x="1129396" y="-10867"/>
                  <a:pt x="1395230" y="0"/>
                </a:cubicBezTo>
                <a:cubicBezTo>
                  <a:pt x="1661064" y="10867"/>
                  <a:pt x="1983593" y="16451"/>
                  <a:pt x="2133882" y="0"/>
                </a:cubicBezTo>
                <a:cubicBezTo>
                  <a:pt x="2284171" y="-16451"/>
                  <a:pt x="2551186" y="-20670"/>
                  <a:pt x="2735746" y="0"/>
                </a:cubicBezTo>
                <a:cubicBezTo>
                  <a:pt x="2725651" y="343886"/>
                  <a:pt x="2724779" y="529423"/>
                  <a:pt x="2735746" y="698690"/>
                </a:cubicBezTo>
                <a:cubicBezTo>
                  <a:pt x="2746714" y="867957"/>
                  <a:pt x="2748327" y="1195517"/>
                  <a:pt x="2735746" y="1397379"/>
                </a:cubicBezTo>
                <a:cubicBezTo>
                  <a:pt x="2723165" y="1599241"/>
                  <a:pt x="2731982" y="1800581"/>
                  <a:pt x="2735746" y="1996256"/>
                </a:cubicBezTo>
                <a:cubicBezTo>
                  <a:pt x="2739510" y="2191931"/>
                  <a:pt x="2708076" y="2536990"/>
                  <a:pt x="2735746" y="2694946"/>
                </a:cubicBezTo>
                <a:cubicBezTo>
                  <a:pt x="2763417" y="2852902"/>
                  <a:pt x="2735978" y="3170915"/>
                  <a:pt x="2735746" y="3327094"/>
                </a:cubicBezTo>
                <a:cubicBezTo>
                  <a:pt x="2558096" y="3327781"/>
                  <a:pt x="2210426" y="3316912"/>
                  <a:pt x="2024452" y="3327094"/>
                </a:cubicBezTo>
                <a:cubicBezTo>
                  <a:pt x="1838478" y="3337276"/>
                  <a:pt x="1544331" y="3299508"/>
                  <a:pt x="1395230" y="3327094"/>
                </a:cubicBezTo>
                <a:cubicBezTo>
                  <a:pt x="1246129" y="3354680"/>
                  <a:pt x="914605" y="3327108"/>
                  <a:pt x="656579" y="3327094"/>
                </a:cubicBezTo>
                <a:cubicBezTo>
                  <a:pt x="398553" y="3327080"/>
                  <a:pt x="201442" y="3300578"/>
                  <a:pt x="0" y="3327094"/>
                </a:cubicBezTo>
                <a:cubicBezTo>
                  <a:pt x="-23866" y="3126469"/>
                  <a:pt x="17100" y="2976613"/>
                  <a:pt x="0" y="2661675"/>
                </a:cubicBezTo>
                <a:cubicBezTo>
                  <a:pt x="-17100" y="2346737"/>
                  <a:pt x="32693" y="2179439"/>
                  <a:pt x="0" y="1996256"/>
                </a:cubicBezTo>
                <a:cubicBezTo>
                  <a:pt x="-32693" y="1813073"/>
                  <a:pt x="14344" y="1596195"/>
                  <a:pt x="0" y="1364109"/>
                </a:cubicBezTo>
                <a:cubicBezTo>
                  <a:pt x="-14344" y="1132023"/>
                  <a:pt x="20324" y="987000"/>
                  <a:pt x="0" y="665419"/>
                </a:cubicBezTo>
                <a:cubicBezTo>
                  <a:pt x="-20324" y="343838"/>
                  <a:pt x="2166" y="277514"/>
                  <a:pt x="0" y="0"/>
                </a:cubicBezTo>
                <a:close/>
              </a:path>
              <a:path w="2735746" h="3327094" stroke="0" extrusionOk="0">
                <a:moveTo>
                  <a:pt x="0" y="0"/>
                </a:moveTo>
                <a:cubicBezTo>
                  <a:pt x="209894" y="16338"/>
                  <a:pt x="375877" y="-31334"/>
                  <a:pt x="629222" y="0"/>
                </a:cubicBezTo>
                <a:cubicBezTo>
                  <a:pt x="882567" y="31334"/>
                  <a:pt x="997255" y="-29736"/>
                  <a:pt x="1258443" y="0"/>
                </a:cubicBezTo>
                <a:cubicBezTo>
                  <a:pt x="1519631" y="29736"/>
                  <a:pt x="1769008" y="-24969"/>
                  <a:pt x="1942380" y="0"/>
                </a:cubicBezTo>
                <a:cubicBezTo>
                  <a:pt x="2115752" y="24969"/>
                  <a:pt x="2487652" y="32052"/>
                  <a:pt x="2735746" y="0"/>
                </a:cubicBezTo>
                <a:cubicBezTo>
                  <a:pt x="2742249" y="305953"/>
                  <a:pt x="2766828" y="398936"/>
                  <a:pt x="2735746" y="632148"/>
                </a:cubicBezTo>
                <a:cubicBezTo>
                  <a:pt x="2704664" y="865360"/>
                  <a:pt x="2744437" y="1024509"/>
                  <a:pt x="2735746" y="1197754"/>
                </a:cubicBezTo>
                <a:cubicBezTo>
                  <a:pt x="2727055" y="1370999"/>
                  <a:pt x="2702703" y="1614653"/>
                  <a:pt x="2735746" y="1929715"/>
                </a:cubicBezTo>
                <a:cubicBezTo>
                  <a:pt x="2768789" y="2244777"/>
                  <a:pt x="2718634" y="2431770"/>
                  <a:pt x="2735746" y="2561862"/>
                </a:cubicBezTo>
                <a:cubicBezTo>
                  <a:pt x="2752858" y="2691954"/>
                  <a:pt x="2749195" y="3119464"/>
                  <a:pt x="2735746" y="3327094"/>
                </a:cubicBezTo>
                <a:cubicBezTo>
                  <a:pt x="2544692" y="3325165"/>
                  <a:pt x="2329759" y="3349534"/>
                  <a:pt x="2051810" y="3327094"/>
                </a:cubicBezTo>
                <a:cubicBezTo>
                  <a:pt x="1773861" y="3304654"/>
                  <a:pt x="1581371" y="3358098"/>
                  <a:pt x="1313158" y="3327094"/>
                </a:cubicBezTo>
                <a:cubicBezTo>
                  <a:pt x="1044945" y="3296090"/>
                  <a:pt x="924777" y="3320346"/>
                  <a:pt x="656579" y="3327094"/>
                </a:cubicBezTo>
                <a:cubicBezTo>
                  <a:pt x="388381" y="3333842"/>
                  <a:pt x="246803" y="3305418"/>
                  <a:pt x="0" y="3327094"/>
                </a:cubicBezTo>
                <a:cubicBezTo>
                  <a:pt x="-11422" y="3177284"/>
                  <a:pt x="793" y="2976067"/>
                  <a:pt x="0" y="2761488"/>
                </a:cubicBezTo>
                <a:cubicBezTo>
                  <a:pt x="-793" y="2546909"/>
                  <a:pt x="-18314" y="2257832"/>
                  <a:pt x="0" y="2129340"/>
                </a:cubicBezTo>
                <a:cubicBezTo>
                  <a:pt x="18314" y="2000848"/>
                  <a:pt x="-10076" y="1682842"/>
                  <a:pt x="0" y="1530463"/>
                </a:cubicBezTo>
                <a:cubicBezTo>
                  <a:pt x="10076" y="1378084"/>
                  <a:pt x="11899" y="1055191"/>
                  <a:pt x="0" y="898315"/>
                </a:cubicBezTo>
                <a:cubicBezTo>
                  <a:pt x="-11899" y="741439"/>
                  <a:pt x="17286" y="39769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6085" y="924339"/>
            <a:ext cx="2400300" cy="2888189"/>
          </a:xfrm>
        </p:spPr>
        <p:txBody>
          <a:bodyPr anchor="b">
            <a:normAutofit/>
          </a:bodyPr>
          <a:lstStyle/>
          <a:p>
            <a:pPr marL="0" lvl="0" indent="0" algn="l">
              <a:lnSpc>
                <a:spcPct val="90000"/>
              </a:lnSpc>
              <a:buNone/>
            </a:pPr>
            <a:r>
              <a:rPr lang="ru-RU" sz="1700">
                <a:solidFill>
                  <a:srgbClr val="FFFFFF"/>
                </a:solidFill>
                <a:latin typeface="Aptos Slab SemiBold" panose="020B0004020202020204" pitchFamily="34" charset="0"/>
              </a:rPr>
              <a:t>Веб-моніторинг рубок лісу в Карпатах за супутниковими знімками Sentinel-2</a:t>
            </a:r>
            <a:br>
              <a:rPr lang="ru-RU" sz="1700">
                <a:solidFill>
                  <a:srgbClr val="FFFFFF"/>
                </a:solidFill>
                <a:latin typeface="Aptos Slab SemiBold" panose="020B0004020202020204" pitchFamily="34" charset="0"/>
              </a:rPr>
            </a:br>
            <a:br>
              <a:rPr lang="ru-RU" sz="1700">
                <a:solidFill>
                  <a:srgbClr val="FFFFFF"/>
                </a:solidFill>
                <a:latin typeface="Aptos Slab SemiBold" panose="020B0004020202020204" pitchFamily="34" charset="0"/>
              </a:rPr>
            </a:br>
            <a:r>
              <a:rPr lang="ru-RU" sz="1700">
                <a:solidFill>
                  <a:srgbClr val="FFFFFF"/>
                </a:solidFill>
                <a:latin typeface="Aptos Slab SemiBold" panose="020B0004020202020204" pitchFamily="34" charset="0"/>
              </a:rPr>
              <a:t>Роботу виконав</a:t>
            </a:r>
            <a:r>
              <a:rPr lang="en-US" sz="1700">
                <a:solidFill>
                  <a:srgbClr val="FFFFFF"/>
                </a:solidFill>
                <a:latin typeface="Aptos Slab SemiBold" panose="020B0004020202020204" pitchFamily="34" charset="0"/>
              </a:rPr>
              <a:t>: </a:t>
            </a:r>
            <a:r>
              <a:rPr lang="ru-RU" sz="1700">
                <a:solidFill>
                  <a:srgbClr val="FFFFFF"/>
                </a:solidFill>
                <a:latin typeface="Aptos Slab SemiBold" panose="020B0004020202020204" pitchFamily="34" charset="0"/>
              </a:rPr>
              <a:t>Возняк Ярема Назарович</a:t>
            </a:r>
          </a:p>
          <a:p>
            <a:pPr marL="0" lvl="0" indent="0" algn="l">
              <a:lnSpc>
                <a:spcPct val="90000"/>
              </a:lnSpc>
              <a:buNone/>
            </a:pPr>
            <a:r>
              <a:rPr lang="ru-RU" sz="1700">
                <a:solidFill>
                  <a:srgbClr val="FFFFFF"/>
                </a:solidFill>
                <a:latin typeface="Aptos Slab SemiBold" panose="020B0004020202020204" pitchFamily="34" charset="0"/>
              </a:rPr>
              <a:t>Науковий керівник</a:t>
            </a:r>
            <a:r>
              <a:rPr lang="en-US" sz="1700">
                <a:solidFill>
                  <a:srgbClr val="FFFFFF"/>
                </a:solidFill>
                <a:latin typeface="Aptos Slab SemiBold" panose="020B0004020202020204" pitchFamily="34" charset="0"/>
              </a:rPr>
              <a:t>:</a:t>
            </a:r>
            <a:r>
              <a:rPr lang="uk-UA" sz="1700">
                <a:solidFill>
                  <a:srgbClr val="FFFFFF"/>
                </a:solidFill>
                <a:latin typeface="Aptos Slab SemiBold" panose="020B0004020202020204" pitchFamily="34" charset="0"/>
              </a:rPr>
              <a:t> Казмерчук Анатолій Іванович</a:t>
            </a:r>
            <a:r>
              <a:rPr lang="en-US" sz="1700">
                <a:solidFill>
                  <a:srgbClr val="FFFFFF"/>
                </a:solidFill>
                <a:latin typeface="Aptos Slab SemiBold" panose="020B0004020202020204" pitchFamily="34" charset="0"/>
              </a:rPr>
              <a:t> </a:t>
            </a:r>
            <a:endParaRPr lang="ru-RU" sz="1700">
              <a:solidFill>
                <a:srgbClr val="FFFFFF"/>
              </a:solidFill>
              <a:latin typeface="Aptos Slab SemiBold" panose="020B0004020202020204" pitchFamily="34" charset="0"/>
            </a:endParaRPr>
          </a:p>
        </p:txBody>
      </p:sp>
      <p:sp>
        <p:nvSpPr>
          <p:cNvPr id="59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49" y="4079983"/>
            <a:ext cx="4711446" cy="13716"/>
          </a:xfrm>
          <a:custGeom>
            <a:avLst/>
            <a:gdLst>
              <a:gd name="csX0" fmla="*/ 0 w 4711446"/>
              <a:gd name="csY0" fmla="*/ 0 h 13716"/>
              <a:gd name="csX1" fmla="*/ 625949 w 4711446"/>
              <a:gd name="csY1" fmla="*/ 0 h 13716"/>
              <a:gd name="csX2" fmla="*/ 1157670 w 4711446"/>
              <a:gd name="csY2" fmla="*/ 0 h 13716"/>
              <a:gd name="csX3" fmla="*/ 1736504 w 4711446"/>
              <a:gd name="csY3" fmla="*/ 0 h 13716"/>
              <a:gd name="csX4" fmla="*/ 2456683 w 4711446"/>
              <a:gd name="csY4" fmla="*/ 0 h 13716"/>
              <a:gd name="csX5" fmla="*/ 3082632 w 4711446"/>
              <a:gd name="csY5" fmla="*/ 0 h 13716"/>
              <a:gd name="csX6" fmla="*/ 3661467 w 4711446"/>
              <a:gd name="csY6" fmla="*/ 0 h 13716"/>
              <a:gd name="csX7" fmla="*/ 4711446 w 4711446"/>
              <a:gd name="csY7" fmla="*/ 0 h 13716"/>
              <a:gd name="csX8" fmla="*/ 4711446 w 4711446"/>
              <a:gd name="csY8" fmla="*/ 13716 h 13716"/>
              <a:gd name="csX9" fmla="*/ 4038382 w 4711446"/>
              <a:gd name="csY9" fmla="*/ 13716 h 13716"/>
              <a:gd name="csX10" fmla="*/ 3459547 w 4711446"/>
              <a:gd name="csY10" fmla="*/ 13716 h 13716"/>
              <a:gd name="csX11" fmla="*/ 2692255 w 4711446"/>
              <a:gd name="csY11" fmla="*/ 13716 h 13716"/>
              <a:gd name="csX12" fmla="*/ 2066306 w 4711446"/>
              <a:gd name="csY12" fmla="*/ 13716 h 13716"/>
              <a:gd name="csX13" fmla="*/ 1534585 w 4711446"/>
              <a:gd name="csY13" fmla="*/ 13716 h 13716"/>
              <a:gd name="csX14" fmla="*/ 814407 w 4711446"/>
              <a:gd name="csY14" fmla="*/ 13716 h 13716"/>
              <a:gd name="csX15" fmla="*/ 0 w 4711446"/>
              <a:gd name="csY15" fmla="*/ 13716 h 13716"/>
              <a:gd name="csX16" fmla="*/ 0 w 4711446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711446" h="13716" fill="none" extrusionOk="0">
                <a:moveTo>
                  <a:pt x="0" y="0"/>
                </a:moveTo>
                <a:cubicBezTo>
                  <a:pt x="275996" y="-6775"/>
                  <a:pt x="430270" y="12128"/>
                  <a:pt x="625949" y="0"/>
                </a:cubicBezTo>
                <a:cubicBezTo>
                  <a:pt x="821628" y="-12128"/>
                  <a:pt x="953153" y="2170"/>
                  <a:pt x="1157670" y="0"/>
                </a:cubicBezTo>
                <a:cubicBezTo>
                  <a:pt x="1362187" y="-2170"/>
                  <a:pt x="1508708" y="24986"/>
                  <a:pt x="1736504" y="0"/>
                </a:cubicBezTo>
                <a:cubicBezTo>
                  <a:pt x="1964300" y="-24986"/>
                  <a:pt x="2114331" y="-14747"/>
                  <a:pt x="2456683" y="0"/>
                </a:cubicBezTo>
                <a:cubicBezTo>
                  <a:pt x="2799035" y="14747"/>
                  <a:pt x="2904885" y="27883"/>
                  <a:pt x="3082632" y="0"/>
                </a:cubicBezTo>
                <a:cubicBezTo>
                  <a:pt x="3260379" y="-27883"/>
                  <a:pt x="3449277" y="21284"/>
                  <a:pt x="3661467" y="0"/>
                </a:cubicBezTo>
                <a:cubicBezTo>
                  <a:pt x="3873658" y="-21284"/>
                  <a:pt x="4403906" y="12447"/>
                  <a:pt x="4711446" y="0"/>
                </a:cubicBezTo>
                <a:cubicBezTo>
                  <a:pt x="4711159" y="3379"/>
                  <a:pt x="4711654" y="9289"/>
                  <a:pt x="4711446" y="13716"/>
                </a:cubicBezTo>
                <a:cubicBezTo>
                  <a:pt x="4441704" y="9571"/>
                  <a:pt x="4312170" y="574"/>
                  <a:pt x="4038382" y="13716"/>
                </a:cubicBezTo>
                <a:cubicBezTo>
                  <a:pt x="3764594" y="26858"/>
                  <a:pt x="3716634" y="20108"/>
                  <a:pt x="3459547" y="13716"/>
                </a:cubicBezTo>
                <a:cubicBezTo>
                  <a:pt x="3202460" y="7324"/>
                  <a:pt x="2879854" y="15102"/>
                  <a:pt x="2692255" y="13716"/>
                </a:cubicBezTo>
                <a:cubicBezTo>
                  <a:pt x="2504656" y="12330"/>
                  <a:pt x="2223731" y="-7368"/>
                  <a:pt x="2066306" y="13716"/>
                </a:cubicBezTo>
                <a:cubicBezTo>
                  <a:pt x="1908881" y="34800"/>
                  <a:pt x="1781464" y="6283"/>
                  <a:pt x="1534585" y="13716"/>
                </a:cubicBezTo>
                <a:cubicBezTo>
                  <a:pt x="1287706" y="21149"/>
                  <a:pt x="979966" y="-19866"/>
                  <a:pt x="814407" y="13716"/>
                </a:cubicBezTo>
                <a:cubicBezTo>
                  <a:pt x="648848" y="47298"/>
                  <a:pt x="195527" y="9414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711446" h="13716" stroke="0" extrusionOk="0">
                <a:moveTo>
                  <a:pt x="0" y="0"/>
                </a:moveTo>
                <a:cubicBezTo>
                  <a:pt x="225644" y="-29218"/>
                  <a:pt x="321824" y="-13505"/>
                  <a:pt x="625949" y="0"/>
                </a:cubicBezTo>
                <a:cubicBezTo>
                  <a:pt x="930074" y="13505"/>
                  <a:pt x="1040728" y="23682"/>
                  <a:pt x="1157670" y="0"/>
                </a:cubicBezTo>
                <a:cubicBezTo>
                  <a:pt x="1274612" y="-23682"/>
                  <a:pt x="1732715" y="-38127"/>
                  <a:pt x="1924962" y="0"/>
                </a:cubicBezTo>
                <a:cubicBezTo>
                  <a:pt x="2117209" y="38127"/>
                  <a:pt x="2299261" y="17383"/>
                  <a:pt x="2550911" y="0"/>
                </a:cubicBezTo>
                <a:cubicBezTo>
                  <a:pt x="2802561" y="-17383"/>
                  <a:pt x="2873352" y="-24010"/>
                  <a:pt x="3176861" y="0"/>
                </a:cubicBezTo>
                <a:cubicBezTo>
                  <a:pt x="3480370" y="24010"/>
                  <a:pt x="3597961" y="-9070"/>
                  <a:pt x="3944153" y="0"/>
                </a:cubicBezTo>
                <a:cubicBezTo>
                  <a:pt x="4290345" y="9070"/>
                  <a:pt x="4345995" y="26854"/>
                  <a:pt x="4711446" y="0"/>
                </a:cubicBezTo>
                <a:cubicBezTo>
                  <a:pt x="4711246" y="3832"/>
                  <a:pt x="4712038" y="9314"/>
                  <a:pt x="4711446" y="13716"/>
                </a:cubicBezTo>
                <a:cubicBezTo>
                  <a:pt x="4574282" y="19325"/>
                  <a:pt x="4363770" y="38994"/>
                  <a:pt x="4132611" y="13716"/>
                </a:cubicBezTo>
                <a:cubicBezTo>
                  <a:pt x="3901452" y="-11562"/>
                  <a:pt x="3795359" y="-11899"/>
                  <a:pt x="3459547" y="13716"/>
                </a:cubicBezTo>
                <a:cubicBezTo>
                  <a:pt x="3123735" y="39331"/>
                  <a:pt x="3000502" y="-14570"/>
                  <a:pt x="2786484" y="13716"/>
                </a:cubicBezTo>
                <a:cubicBezTo>
                  <a:pt x="2572466" y="42002"/>
                  <a:pt x="2424773" y="13194"/>
                  <a:pt x="2160535" y="13716"/>
                </a:cubicBezTo>
                <a:cubicBezTo>
                  <a:pt x="1896297" y="14238"/>
                  <a:pt x="1673486" y="-11129"/>
                  <a:pt x="1393242" y="13716"/>
                </a:cubicBezTo>
                <a:cubicBezTo>
                  <a:pt x="1112998" y="38561"/>
                  <a:pt x="887393" y="34550"/>
                  <a:pt x="625949" y="13716"/>
                </a:cubicBezTo>
                <a:cubicBezTo>
                  <a:pt x="364505" y="-7118"/>
                  <a:pt x="251092" y="15069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46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138" y="411480"/>
            <a:ext cx="2896444" cy="407365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uk-UA" sz="4100" dirty="0">
                <a:latin typeface="Aptos Slab ExtraBold" panose="020B0004020202020204" pitchFamily="34" charset="0"/>
              </a:rPr>
              <a:t>Проблема</a:t>
            </a:r>
          </a:p>
        </p:txBody>
      </p:sp>
      <p:sp>
        <p:nvSpPr>
          <p:cNvPr id="6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07987" y="2444036"/>
            <a:ext cx="3360420" cy="13716"/>
          </a:xfrm>
          <a:custGeom>
            <a:avLst/>
            <a:gdLst>
              <a:gd name="csX0" fmla="*/ 0 w 3360420"/>
              <a:gd name="csY0" fmla="*/ 0 h 13716"/>
              <a:gd name="csX1" fmla="*/ 638480 w 3360420"/>
              <a:gd name="csY1" fmla="*/ 0 h 13716"/>
              <a:gd name="csX2" fmla="*/ 1310564 w 3360420"/>
              <a:gd name="csY2" fmla="*/ 0 h 13716"/>
              <a:gd name="csX3" fmla="*/ 2016252 w 3360420"/>
              <a:gd name="csY3" fmla="*/ 0 h 13716"/>
              <a:gd name="csX4" fmla="*/ 2721940 w 3360420"/>
              <a:gd name="csY4" fmla="*/ 0 h 13716"/>
              <a:gd name="csX5" fmla="*/ 3360420 w 3360420"/>
              <a:gd name="csY5" fmla="*/ 0 h 13716"/>
              <a:gd name="csX6" fmla="*/ 3360420 w 3360420"/>
              <a:gd name="csY6" fmla="*/ 13716 h 13716"/>
              <a:gd name="csX7" fmla="*/ 2621128 w 3360420"/>
              <a:gd name="csY7" fmla="*/ 13716 h 13716"/>
              <a:gd name="csX8" fmla="*/ 1881835 w 3360420"/>
              <a:gd name="csY8" fmla="*/ 13716 h 13716"/>
              <a:gd name="csX9" fmla="*/ 1209751 w 3360420"/>
              <a:gd name="csY9" fmla="*/ 13716 h 13716"/>
              <a:gd name="csX10" fmla="*/ 0 w 3360420"/>
              <a:gd name="csY10" fmla="*/ 13716 h 13716"/>
              <a:gd name="csX11" fmla="*/ 0 w 3360420"/>
              <a:gd name="csY11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60420" h="13716" fill="none" extrusionOk="0">
                <a:moveTo>
                  <a:pt x="0" y="0"/>
                </a:moveTo>
                <a:cubicBezTo>
                  <a:pt x="173390" y="25775"/>
                  <a:pt x="488191" y="-28129"/>
                  <a:pt x="638480" y="0"/>
                </a:cubicBezTo>
                <a:cubicBezTo>
                  <a:pt x="788769" y="28129"/>
                  <a:pt x="1174965" y="-28957"/>
                  <a:pt x="1310564" y="0"/>
                </a:cubicBezTo>
                <a:cubicBezTo>
                  <a:pt x="1446163" y="28957"/>
                  <a:pt x="1725466" y="-34787"/>
                  <a:pt x="2016252" y="0"/>
                </a:cubicBezTo>
                <a:cubicBezTo>
                  <a:pt x="2307038" y="34787"/>
                  <a:pt x="2437945" y="-15142"/>
                  <a:pt x="2721940" y="0"/>
                </a:cubicBezTo>
                <a:cubicBezTo>
                  <a:pt x="3005935" y="15142"/>
                  <a:pt x="3141795" y="-10480"/>
                  <a:pt x="3360420" y="0"/>
                </a:cubicBezTo>
                <a:cubicBezTo>
                  <a:pt x="3359940" y="2989"/>
                  <a:pt x="3359779" y="10166"/>
                  <a:pt x="3360420" y="13716"/>
                </a:cubicBezTo>
                <a:cubicBezTo>
                  <a:pt x="3047302" y="-18841"/>
                  <a:pt x="2960325" y="10240"/>
                  <a:pt x="2621128" y="13716"/>
                </a:cubicBezTo>
                <a:cubicBezTo>
                  <a:pt x="2281931" y="17192"/>
                  <a:pt x="2176842" y="26844"/>
                  <a:pt x="1881835" y="13716"/>
                </a:cubicBezTo>
                <a:cubicBezTo>
                  <a:pt x="1586828" y="588"/>
                  <a:pt x="1449984" y="-8996"/>
                  <a:pt x="1209751" y="13716"/>
                </a:cubicBezTo>
                <a:cubicBezTo>
                  <a:pt x="969518" y="36428"/>
                  <a:pt x="318488" y="55902"/>
                  <a:pt x="0" y="13716"/>
                </a:cubicBezTo>
                <a:cubicBezTo>
                  <a:pt x="182" y="9317"/>
                  <a:pt x="482" y="5285"/>
                  <a:pt x="0" y="0"/>
                </a:cubicBezTo>
                <a:close/>
              </a:path>
              <a:path w="3360420" h="13716" stroke="0" extrusionOk="0">
                <a:moveTo>
                  <a:pt x="0" y="0"/>
                </a:moveTo>
                <a:cubicBezTo>
                  <a:pt x="152211" y="-10113"/>
                  <a:pt x="493092" y="-25529"/>
                  <a:pt x="638480" y="0"/>
                </a:cubicBezTo>
                <a:cubicBezTo>
                  <a:pt x="783868" y="25529"/>
                  <a:pt x="1051824" y="-19092"/>
                  <a:pt x="1209751" y="0"/>
                </a:cubicBezTo>
                <a:cubicBezTo>
                  <a:pt x="1367678" y="19092"/>
                  <a:pt x="1729599" y="16071"/>
                  <a:pt x="1949044" y="0"/>
                </a:cubicBezTo>
                <a:cubicBezTo>
                  <a:pt x="2168489" y="-16071"/>
                  <a:pt x="2323758" y="-4710"/>
                  <a:pt x="2587523" y="0"/>
                </a:cubicBezTo>
                <a:cubicBezTo>
                  <a:pt x="2851288" y="4710"/>
                  <a:pt x="3195571" y="-8175"/>
                  <a:pt x="3360420" y="0"/>
                </a:cubicBezTo>
                <a:cubicBezTo>
                  <a:pt x="3359928" y="2764"/>
                  <a:pt x="3360118" y="8747"/>
                  <a:pt x="3360420" y="13716"/>
                </a:cubicBezTo>
                <a:cubicBezTo>
                  <a:pt x="3025528" y="-15604"/>
                  <a:pt x="2845368" y="35037"/>
                  <a:pt x="2688336" y="13716"/>
                </a:cubicBezTo>
                <a:cubicBezTo>
                  <a:pt x="2531304" y="-7605"/>
                  <a:pt x="2279760" y="-9642"/>
                  <a:pt x="1949044" y="13716"/>
                </a:cubicBezTo>
                <a:cubicBezTo>
                  <a:pt x="1618328" y="37074"/>
                  <a:pt x="1624903" y="7505"/>
                  <a:pt x="1377772" y="13716"/>
                </a:cubicBezTo>
                <a:cubicBezTo>
                  <a:pt x="1130641" y="19927"/>
                  <a:pt x="973925" y="-19083"/>
                  <a:pt x="705688" y="13716"/>
                </a:cubicBezTo>
                <a:cubicBezTo>
                  <a:pt x="437451" y="46515"/>
                  <a:pt x="236989" y="-13738"/>
                  <a:pt x="0" y="13716"/>
                </a:cubicBezTo>
                <a:cubicBezTo>
                  <a:pt x="614" y="9981"/>
                  <a:pt x="600" y="54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414068"/>
            <a:ext cx="4668251" cy="4073652"/>
          </a:xfrm>
        </p:spPr>
        <p:txBody>
          <a:bodyPr anchor="ctr">
            <a:normAutofit/>
          </a:bodyPr>
          <a:lstStyle/>
          <a:p>
            <a:pPr lvl="0"/>
            <a:r>
              <a:rPr lang="uk-UA" sz="2000" dirty="0">
                <a:latin typeface="Aptos Slab SemiBold" panose="020B0004020202020204" pitchFamily="34" charset="0"/>
              </a:rPr>
              <a:t>Українські Карпати щороку втрачають десятки тисяч гектарів лісу</a:t>
            </a:r>
          </a:p>
          <a:p>
            <a:pPr lvl="0"/>
            <a:r>
              <a:rPr lang="uk-UA" sz="2000" dirty="0">
                <a:latin typeface="Aptos Slab SemiBold" panose="020B0004020202020204" pitchFamily="34" charset="0"/>
              </a:rPr>
              <a:t>Лісництво фізично не може об’їхати кожну ділянку</a:t>
            </a:r>
          </a:p>
          <a:p>
            <a:pPr lvl="0"/>
            <a:r>
              <a:rPr lang="uk-UA" sz="2000" dirty="0" err="1">
                <a:latin typeface="Aptos Slab SemiBold" panose="020B0004020202020204" pitchFamily="34" charset="0"/>
              </a:rPr>
              <a:t>Дрони</a:t>
            </a:r>
            <a:r>
              <a:rPr lang="uk-UA" sz="2000" dirty="0">
                <a:latin typeface="Aptos Slab SemiBold" panose="020B0004020202020204" pitchFamily="34" charset="0"/>
              </a:rPr>
              <a:t> і польові інспекції — повільно й дорого</a:t>
            </a:r>
          </a:p>
          <a:p>
            <a:pPr lvl="0"/>
            <a:r>
              <a:rPr lang="uk-UA" sz="2000" dirty="0">
                <a:latin typeface="Aptos Slab SemiBold" panose="020B0004020202020204" pitchFamily="34" charset="0"/>
              </a:rPr>
              <a:t>А над Карпатами кожні 5 днів літає супутник, який знімає той самий ліс </a:t>
            </a:r>
            <a:r>
              <a:rPr lang="uk-UA" sz="2000" b="1" dirty="0">
                <a:latin typeface="Aptos Slab ExtraBold" panose="020B0004020202020204" pitchFamily="34" charset="0"/>
              </a:rPr>
              <a:t>безкоштовно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624" y="865179"/>
            <a:ext cx="2400300" cy="33458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uk-UA" dirty="0">
                <a:solidFill>
                  <a:srgbClr val="FFFFFF"/>
                </a:solidFill>
                <a:latin typeface="Aptos Slab ExtraBold" panose="020B0004020202020204" pitchFamily="34" charset="0"/>
              </a:rPr>
              <a:t>Ідея</a:t>
            </a:r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00932"/>
            <a:ext cx="5179868" cy="4131790"/>
          </a:xfrm>
        </p:spPr>
        <p:txBody>
          <a:bodyPr anchor="ctr">
            <a:noAutofit/>
          </a:bodyPr>
          <a:lstStyle/>
          <a:p>
            <a:pPr marL="0" lvl="0" indent="0">
              <a:buNone/>
            </a:pPr>
            <a:r>
              <a:rPr lang="uk-UA" sz="2000" dirty="0">
                <a:latin typeface="Aptos Slab SemiBold" panose="020B0004020202020204" pitchFamily="34" charset="0"/>
              </a:rPr>
              <a:t>Замість того, щоб людям бігати по горах, нехай супутник дивиться зверху, а програма автоматично знаходить ділянки, де ліс зник.</a:t>
            </a:r>
          </a:p>
          <a:p>
            <a:pPr lvl="0"/>
            <a:r>
              <a:rPr lang="uk-UA" sz="2000" dirty="0">
                <a:latin typeface="Aptos Slab SemiBold" panose="020B0004020202020204" pitchFamily="34" charset="0"/>
              </a:rPr>
              <a:t>Дані: </a:t>
            </a:r>
            <a:r>
              <a:rPr lang="en-US" sz="2000" b="1" dirty="0">
                <a:latin typeface="Aptos Slab ExtraBold" panose="020B0004020202020204" pitchFamily="34" charset="0"/>
              </a:rPr>
              <a:t>Sentinel-2</a:t>
            </a:r>
            <a:r>
              <a:rPr lang="en-US" sz="2000" dirty="0">
                <a:latin typeface="Aptos Slab ExtraBold" panose="020B0004020202020204" pitchFamily="34" charset="0"/>
              </a:rPr>
              <a:t> </a:t>
            </a:r>
            <a:r>
              <a:rPr lang="en-US" sz="2000" dirty="0">
                <a:latin typeface="Aptos Slab SemiBold" panose="020B0004020202020204" pitchFamily="34" charset="0"/>
              </a:rPr>
              <a:t>(</a:t>
            </a:r>
            <a:r>
              <a:rPr lang="uk-UA" sz="2000" dirty="0">
                <a:latin typeface="Aptos Slab SemiBold" panose="020B0004020202020204" pitchFamily="34" charset="0"/>
              </a:rPr>
              <a:t>програма </a:t>
            </a:r>
            <a:r>
              <a:rPr lang="en-US" sz="2000" dirty="0">
                <a:latin typeface="Aptos Slab SemiBold" panose="020B0004020202020204" pitchFamily="34" charset="0"/>
              </a:rPr>
              <a:t>Copernicus, ESA) — </a:t>
            </a:r>
            <a:r>
              <a:rPr lang="uk-UA" sz="2000" dirty="0">
                <a:latin typeface="Aptos Slab SemiBold" panose="020B0004020202020204" pitchFamily="34" charset="0"/>
              </a:rPr>
              <a:t>безкоштовні</a:t>
            </a:r>
          </a:p>
          <a:p>
            <a:pPr lvl="0"/>
            <a:r>
              <a:rPr lang="uk-UA" sz="2000" dirty="0">
                <a:latin typeface="Aptos Slab SemiBold" panose="020B0004020202020204" pitchFamily="34" charset="0"/>
              </a:rPr>
              <a:t>Метод: порівняти знімок «до» і знімок «після», знайти різницю</a:t>
            </a:r>
          </a:p>
          <a:p>
            <a:pPr lvl="0"/>
            <a:r>
              <a:rPr lang="uk-UA" sz="2000" dirty="0">
                <a:latin typeface="Aptos Slab SemiBold" panose="020B0004020202020204" pitchFamily="34" charset="0"/>
              </a:rPr>
              <a:t>Інтерфейс: веб-сайт з картою, доступний з будь-якого пристрою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2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uk-UA" sz="4100" dirty="0">
                <a:latin typeface="Aptos Slab ExtraBold" panose="020B0004020202020204" pitchFamily="34" charset="0"/>
              </a:rPr>
              <a:t>Як це працює: </a:t>
            </a:r>
            <a:r>
              <a:rPr lang="en-US" sz="4100" dirty="0">
                <a:latin typeface="Aptos Slab ExtraBold" panose="020B0004020202020204" pitchFamily="34" charset="0"/>
              </a:rPr>
              <a:t>NDVI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038"/>
            <a:ext cx="7886700" cy="318897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1700" b="1" dirty="0">
                <a:latin typeface="Courier"/>
              </a:rPr>
              <a:t>NDVI = (NIR − Red) / (NIR + Red)</a:t>
            </a:r>
          </a:p>
          <a:p>
            <a:pPr marL="0" lvl="0" indent="0">
              <a:buNone/>
            </a:pPr>
            <a:r>
              <a:rPr lang="uk-UA" sz="1700" dirty="0">
                <a:latin typeface="Aptos Slab SemiBold" panose="020B0004020202020204" pitchFamily="34" charset="0"/>
              </a:rPr>
              <a:t>Здоровий ліс відбиває близьке інфрачервоне світло (</a:t>
            </a:r>
            <a:r>
              <a:rPr lang="en-US" sz="1700" dirty="0">
                <a:latin typeface="Aptos Slab SemiBold" panose="020B0004020202020204" pitchFamily="34" charset="0"/>
              </a:rPr>
              <a:t>NIR) </a:t>
            </a:r>
            <a:r>
              <a:rPr lang="uk-UA" sz="1700" dirty="0">
                <a:latin typeface="Aptos Slab SemiBold" panose="020B0004020202020204" pitchFamily="34" charset="0"/>
              </a:rPr>
              <a:t>і поглинає червоне (</a:t>
            </a:r>
            <a:r>
              <a:rPr lang="en-US" sz="1700" dirty="0">
                <a:latin typeface="Aptos Slab SemiBold" panose="020B0004020202020204" pitchFamily="34" charset="0"/>
              </a:rPr>
              <a:t>Red). </a:t>
            </a:r>
            <a:r>
              <a:rPr lang="uk-UA" sz="1700" dirty="0">
                <a:latin typeface="Aptos Slab SemiBold" panose="020B0004020202020204" pitchFamily="34" charset="0"/>
              </a:rPr>
              <a:t>Тому в </a:t>
            </a:r>
            <a:r>
              <a:rPr lang="en-US" sz="1700" dirty="0">
                <a:latin typeface="Aptos Slab SemiBold" panose="020B0004020202020204" pitchFamily="34" charset="0"/>
              </a:rPr>
              <a:t>NDVI: </a:t>
            </a:r>
            <a:r>
              <a:rPr lang="uk-UA" sz="1700" dirty="0">
                <a:latin typeface="Aptos Slab SemiBold" panose="020B0004020202020204" pitchFamily="34" charset="0"/>
              </a:rPr>
              <a:t>ліс ≈ 0.8, ґрунт або вирубка ≈ 0.2.</a:t>
            </a:r>
          </a:p>
          <a:p>
            <a:pPr marL="0" lvl="0" indent="0">
              <a:buNone/>
            </a:pPr>
            <a:r>
              <a:rPr lang="uk-UA" sz="1700" b="1" dirty="0">
                <a:latin typeface="Aptos Slab SemiBold" panose="020B0004020202020204" pitchFamily="34" charset="0"/>
              </a:rPr>
              <a:t>Чотири кроки алгоритму:</a:t>
            </a:r>
          </a:p>
          <a:p>
            <a:pPr marL="342900" lvl="0" indent="-342900">
              <a:buAutoNum type="arabicPeriod"/>
            </a:pPr>
            <a:r>
              <a:rPr lang="uk-UA" sz="1700" dirty="0">
                <a:latin typeface="Aptos Slab SemiBold" panose="020B0004020202020204" pitchFamily="34" charset="0"/>
              </a:rPr>
              <a:t>Беремо два знімки тієї самої ділянки за літо «до» і літо «після»</a:t>
            </a:r>
          </a:p>
          <a:p>
            <a:pPr marL="342900" lvl="0" indent="-342900">
              <a:buAutoNum type="arabicPeriod"/>
            </a:pPr>
            <a:r>
              <a:rPr lang="uk-UA" sz="1700" dirty="0">
                <a:latin typeface="Aptos Slab SemiBold" panose="020B0004020202020204" pitchFamily="34" charset="0"/>
              </a:rPr>
              <a:t>Рахуємо </a:t>
            </a:r>
            <a:r>
              <a:rPr lang="en-US" sz="1700" dirty="0">
                <a:latin typeface="Aptos Slab SemiBold" panose="020B0004020202020204" pitchFamily="34" charset="0"/>
              </a:rPr>
              <a:t>NDVI </a:t>
            </a:r>
            <a:r>
              <a:rPr lang="uk-UA" sz="1700" dirty="0">
                <a:latin typeface="Aptos Slab SemiBold" panose="020B0004020202020204" pitchFamily="34" charset="0"/>
              </a:rPr>
              <a:t>для кожного пікселя обох знімків</a:t>
            </a:r>
          </a:p>
          <a:p>
            <a:pPr marL="342900" lvl="0" indent="-342900">
              <a:buAutoNum type="arabicPeriod"/>
            </a:pPr>
            <a:r>
              <a:rPr lang="uk-UA" sz="1700" dirty="0">
                <a:latin typeface="Aptos Slab SemiBold" panose="020B0004020202020204" pitchFamily="34" charset="0"/>
              </a:rPr>
              <a:t>Шукаємо пікселі, де </a:t>
            </a:r>
            <a:r>
              <a:rPr lang="en-US" sz="1700" dirty="0">
                <a:latin typeface="Aptos Slab SemiBold" panose="020B0004020202020204" pitchFamily="34" charset="0"/>
              </a:rPr>
              <a:t>NDVI </a:t>
            </a:r>
            <a:r>
              <a:rPr lang="uk-UA" sz="1700" dirty="0">
                <a:latin typeface="Aptos Slab SemiBold" panose="020B0004020202020204" pitchFamily="34" charset="0"/>
              </a:rPr>
              <a:t>впав більше ніж на 0.2</a:t>
            </a:r>
          </a:p>
          <a:p>
            <a:pPr marL="342900" lvl="0" indent="-342900">
              <a:buAutoNum type="arabicPeriod"/>
            </a:pPr>
            <a:r>
              <a:rPr lang="uk-UA" sz="1700" dirty="0">
                <a:latin typeface="Aptos Slab SemiBold" panose="020B0004020202020204" pitchFamily="34" charset="0"/>
              </a:rPr>
              <a:t>Фільтруємо хмари через шар класифікації сцени </a:t>
            </a:r>
            <a:r>
              <a:rPr lang="en-US" sz="1700" dirty="0">
                <a:latin typeface="Aptos Slab SemiBold" panose="020B0004020202020204" pitchFamily="34" charset="0"/>
              </a:rPr>
              <a:t>SCL </a:t>
            </a:r>
            <a:r>
              <a:rPr lang="uk-UA" sz="1700" dirty="0">
                <a:latin typeface="Aptos Slab SemiBold" panose="020B0004020202020204" pitchFamily="34" charset="0"/>
              </a:rPr>
              <a:t>від </a:t>
            </a:r>
            <a:r>
              <a:rPr lang="en-US" sz="1700" dirty="0">
                <a:latin typeface="Aptos Slab SemiBold" panose="020B0004020202020204" pitchFamily="34" charset="0"/>
              </a:rPr>
              <a:t>ESA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114" y="1047513"/>
            <a:ext cx="2941794" cy="304847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uk-UA" dirty="0">
                <a:solidFill>
                  <a:srgbClr val="FFFFFF"/>
                </a:solidFill>
                <a:latin typeface="Aptos Slab ExtraBold" panose="020B0004020202020204" pitchFamily="34" charset="0"/>
              </a:rPr>
              <a:t>Архітектура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5" y="1089954"/>
            <a:ext cx="4152298" cy="3464952"/>
          </a:xfrm>
        </p:spPr>
        <p:txBody>
          <a:bodyPr>
            <a:noAutofit/>
          </a:bodyPr>
          <a:lstStyle/>
          <a:p>
            <a:pPr lvl="0" indent="0">
              <a:lnSpc>
                <a:spcPct val="90000"/>
              </a:lnSpc>
              <a:buNone/>
            </a:pPr>
            <a:r>
              <a:rPr lang="en-US" sz="1400" b="1" dirty="0">
                <a:latin typeface="Courier"/>
              </a:rPr>
              <a:t>        Copernicus Data Space (Sentinel-2)
                    │ OAuth
                    ▼
        Python: scripts/generate_data.py
                    │ </a:t>
            </a:r>
            <a:r>
              <a:rPr lang="en-US" sz="1400" b="1" dirty="0" err="1">
                <a:latin typeface="Courier"/>
              </a:rPr>
              <a:t>events.json</a:t>
            </a:r>
            <a:r>
              <a:rPr lang="en-US" sz="1400" b="1" dirty="0">
                <a:latin typeface="Courier"/>
              </a:rPr>
              <a:t> + PNG
                    ▼
        Next.js + </a:t>
            </a:r>
            <a:r>
              <a:rPr lang="en-US" sz="1400" b="1" dirty="0" err="1">
                <a:latin typeface="Courier"/>
              </a:rPr>
              <a:t>MapLibre</a:t>
            </a:r>
            <a:r>
              <a:rPr lang="en-US" sz="1400" b="1" dirty="0">
                <a:latin typeface="Courier"/>
              </a:rPr>
              <a:t> GL
                    ▼
        </a:t>
            </a:r>
            <a:r>
              <a:rPr lang="en-US" sz="1400" b="1" dirty="0" err="1">
                <a:latin typeface="Courier"/>
              </a:rPr>
              <a:t>treeguardian.vercel.app</a:t>
            </a:r>
            <a:endParaRPr lang="uk-UA" sz="1400" b="1" dirty="0">
              <a:latin typeface="Courier"/>
            </a:endParaRPr>
          </a:p>
          <a:p>
            <a:pPr lvl="0" indent="0">
              <a:lnSpc>
                <a:spcPct val="90000"/>
              </a:lnSpc>
              <a:buNone/>
            </a:pPr>
            <a:r>
              <a:rPr lang="ru-RU" sz="1400" dirty="0" err="1">
                <a:latin typeface="Aptos Slab SemiBold" panose="020B0004020202020204" pitchFamily="34" charset="0"/>
              </a:rPr>
              <a:t>Працює</a:t>
            </a:r>
            <a:r>
              <a:rPr lang="ru-RU" sz="1400" dirty="0">
                <a:latin typeface="Aptos Slab SemiBold" panose="020B0004020202020204" pitchFamily="34" charset="0"/>
              </a:rPr>
              <a:t> без </a:t>
            </a:r>
            <a:r>
              <a:rPr lang="ru-RU" sz="1400" dirty="0" err="1">
                <a:latin typeface="Aptos Slab SemiBold" panose="020B0004020202020204" pitchFamily="34" charset="0"/>
              </a:rPr>
              <a:t>серверів</a:t>
            </a:r>
            <a:r>
              <a:rPr lang="ru-RU" sz="1400" dirty="0">
                <a:latin typeface="Aptos Slab SemiBold" panose="020B0004020202020204" pitchFamily="34" charset="0"/>
              </a:rPr>
              <a:t> та баз </a:t>
            </a:r>
            <a:r>
              <a:rPr lang="ru-RU" sz="1400" dirty="0" err="1">
                <a:latin typeface="Aptos Slab SemiBold" panose="020B0004020202020204" pitchFamily="34" charset="0"/>
              </a:rPr>
              <a:t>даних</a:t>
            </a:r>
            <a:r>
              <a:rPr lang="ru-RU" sz="1400" dirty="0">
                <a:latin typeface="Aptos Slab SemiBold" panose="020B0004020202020204" pitchFamily="34" charset="0"/>
              </a:rPr>
              <a:t>: </a:t>
            </a:r>
            <a:r>
              <a:rPr lang="ru-RU" sz="1400" dirty="0" err="1">
                <a:latin typeface="Aptos Slab SemiBold" panose="020B0004020202020204" pitchFamily="34" charset="0"/>
              </a:rPr>
              <a:t>жодних</a:t>
            </a:r>
            <a:r>
              <a:rPr lang="ru-RU" sz="1400" dirty="0">
                <a:latin typeface="Aptos Slab SemiBold" panose="020B0004020202020204" pitchFamily="34" charset="0"/>
              </a:rPr>
              <a:t> </a:t>
            </a:r>
            <a:r>
              <a:rPr lang="ru-RU" sz="1400" dirty="0" err="1">
                <a:latin typeface="Aptos Slab SemiBold" panose="020B0004020202020204" pitchFamily="34" charset="0"/>
              </a:rPr>
              <a:t>фонових</a:t>
            </a:r>
            <a:r>
              <a:rPr lang="ru-RU" sz="1400" dirty="0">
                <a:latin typeface="Aptos Slab SemiBold" panose="020B0004020202020204" pitchFamily="34" charset="0"/>
              </a:rPr>
              <a:t> </a:t>
            </a:r>
            <a:r>
              <a:rPr lang="ru-RU" sz="1400" dirty="0" err="1">
                <a:latin typeface="Aptos Slab SemiBold" panose="020B0004020202020204" pitchFamily="34" charset="0"/>
              </a:rPr>
              <a:t>навантажень</a:t>
            </a:r>
            <a:r>
              <a:rPr lang="ru-RU" sz="1400" dirty="0">
                <a:latin typeface="Aptos Slab SemiBold" panose="020B0004020202020204" pitchFamily="34" charset="0"/>
              </a:rPr>
              <a:t>, </a:t>
            </a:r>
            <a:r>
              <a:rPr lang="ru-RU" sz="1400" dirty="0" err="1">
                <a:latin typeface="Aptos Slab SemiBold" panose="020B0004020202020204" pitchFamily="34" charset="0"/>
              </a:rPr>
              <a:t>тільки</a:t>
            </a:r>
            <a:r>
              <a:rPr lang="ru-RU" sz="1400" dirty="0">
                <a:latin typeface="Aptos Slab SemiBold" panose="020B0004020202020204" pitchFamily="34" charset="0"/>
              </a:rPr>
              <a:t> </a:t>
            </a:r>
            <a:r>
              <a:rPr lang="ru-RU" sz="1400" dirty="0" err="1">
                <a:latin typeface="Aptos Slab SemiBold" panose="020B0004020202020204" pitchFamily="34" charset="0"/>
              </a:rPr>
              <a:t>швидка</a:t>
            </a:r>
            <a:r>
              <a:rPr lang="ru-RU" sz="1400" dirty="0">
                <a:latin typeface="Aptos Slab SemiBold" panose="020B0004020202020204" pitchFamily="34" charset="0"/>
              </a:rPr>
              <a:t> </a:t>
            </a:r>
            <a:r>
              <a:rPr lang="ru-RU" sz="1400" dirty="0" err="1">
                <a:latin typeface="Aptos Slab SemiBold" panose="020B0004020202020204" pitchFamily="34" charset="0"/>
              </a:rPr>
              <a:t>видача</a:t>
            </a:r>
            <a:r>
              <a:rPr lang="ru-RU" sz="1400" dirty="0">
                <a:latin typeface="Aptos Slab SemiBold" panose="020B0004020202020204" pitchFamily="34" charset="0"/>
              </a:rPr>
              <a:t> готового результату</a:t>
            </a:r>
            <a:endParaRPr lang="en-US" sz="1400" b="1" dirty="0">
              <a:latin typeface="Aptos Slab SemiBold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58" y="1596026"/>
            <a:ext cx="3006082" cy="1564896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Демо</a:t>
            </a:r>
            <a:r>
              <a:rPr lang="en-US" sz="36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: </a:t>
            </a:r>
            <a:r>
              <a:rPr lang="en-US" sz="36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карта</a:t>
            </a:r>
            <a:r>
              <a:rPr lang="en-US" sz="36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Карпат</a:t>
            </a:r>
            <a:r>
              <a:rPr lang="en-US" sz="36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 з 5 </a:t>
            </a:r>
            <a:r>
              <a:rPr lang="en-US" sz="36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ділянками</a:t>
            </a:r>
            <a:endParaRPr lang="en-US" sz="3600" kern="1200" dirty="0">
              <a:solidFill>
                <a:schemeClr val="tx1"/>
              </a:solidFill>
              <a:latin typeface="Aptos Slab ExtraBold" panose="020B0004020202020204" pitchFamily="34" charset="0"/>
            </a:endParaRP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3306950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1" descr="_screenshots/prod-no-demo-suffix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30856" y="1169163"/>
            <a:ext cx="5170828" cy="28051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457" y="1566407"/>
            <a:ext cx="4399643" cy="1593124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Знайдена</a:t>
            </a:r>
            <a:r>
              <a:rPr lang="en-US" sz="36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 </a:t>
            </a:r>
            <a:r>
              <a:rPr lang="uk-UA" sz="36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ви</a:t>
            </a:r>
            <a:r>
              <a:rPr lang="en-US" sz="36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рубка</a:t>
            </a:r>
            <a:r>
              <a:rPr lang="en-US" sz="36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 </a:t>
            </a:r>
            <a:r>
              <a:rPr lang="uk-UA" sz="36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дерев </a:t>
            </a:r>
            <a:r>
              <a:rPr lang="en-US" sz="36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біля</a:t>
            </a:r>
            <a:r>
              <a:rPr lang="en-US" sz="36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Солотвина</a:t>
            </a:r>
            <a:r>
              <a:rPr lang="en-US" sz="36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: 32.4 </a:t>
            </a:r>
            <a:r>
              <a:rPr lang="en-US" sz="36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га</a:t>
            </a:r>
            <a:endParaRPr lang="en-US" sz="3600" kern="1200" dirty="0">
              <a:solidFill>
                <a:schemeClr val="tx1"/>
              </a:solidFill>
              <a:latin typeface="Aptos Slab ExtraBold" panose="020B0004020202020204" pitchFamily="34" charset="0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3306950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1" descr="_screenshots/prod-event-fin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58972" y="490347"/>
            <a:ext cx="2528904" cy="41628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1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1741336"/>
            <a:ext cx="3353369" cy="14181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2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Аналоги</a:t>
            </a:r>
            <a:r>
              <a:rPr lang="en-US" sz="32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 і </a:t>
            </a:r>
            <a:r>
              <a:rPr lang="en-US" sz="32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чим</a:t>
            </a:r>
            <a:r>
              <a:rPr lang="en-US" sz="32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ми</a:t>
            </a:r>
            <a:r>
              <a:rPr lang="en-US" sz="3200" kern="1200" dirty="0">
                <a:solidFill>
                  <a:schemeClr val="tx1"/>
                </a:solidFill>
                <a:latin typeface="Aptos Slab ExtraBold" panose="020B0004020202020204" pitchFamily="34" charset="0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Aptos Slab ExtraBold" panose="020B0004020202020204" pitchFamily="34" charset="0"/>
              </a:rPr>
              <a:t>відрізняємось</a:t>
            </a:r>
            <a:endParaRPr lang="en-US" sz="3200" kern="1200" dirty="0">
              <a:solidFill>
                <a:schemeClr val="tx1"/>
              </a:solidFill>
              <a:latin typeface="Aptos Slab ExtraBold" panose="020B0004020202020204" pitchFamily="34" charset="0"/>
            </a:endParaRP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3306950"/>
            <a:ext cx="2441321" cy="13716"/>
          </a:xfrm>
          <a:custGeom>
            <a:avLst/>
            <a:gdLst>
              <a:gd name="csX0" fmla="*/ 0 w 2441321"/>
              <a:gd name="csY0" fmla="*/ 0 h 13716"/>
              <a:gd name="csX1" fmla="*/ 585917 w 2441321"/>
              <a:gd name="csY1" fmla="*/ 0 h 13716"/>
              <a:gd name="csX2" fmla="*/ 1196247 w 2441321"/>
              <a:gd name="csY2" fmla="*/ 0 h 13716"/>
              <a:gd name="csX3" fmla="*/ 1806578 w 2441321"/>
              <a:gd name="csY3" fmla="*/ 0 h 13716"/>
              <a:gd name="csX4" fmla="*/ 2441321 w 2441321"/>
              <a:gd name="csY4" fmla="*/ 0 h 13716"/>
              <a:gd name="csX5" fmla="*/ 2441321 w 2441321"/>
              <a:gd name="csY5" fmla="*/ 13716 h 13716"/>
              <a:gd name="csX6" fmla="*/ 1830991 w 2441321"/>
              <a:gd name="csY6" fmla="*/ 13716 h 13716"/>
              <a:gd name="csX7" fmla="*/ 1269487 w 2441321"/>
              <a:gd name="csY7" fmla="*/ 13716 h 13716"/>
              <a:gd name="csX8" fmla="*/ 707983 w 2441321"/>
              <a:gd name="csY8" fmla="*/ 13716 h 13716"/>
              <a:gd name="csX9" fmla="*/ 0 w 2441321"/>
              <a:gd name="csY9" fmla="*/ 13716 h 13716"/>
              <a:gd name="csX10" fmla="*/ 0 w 2441321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17CC38D5-E1A8-5116-09A7-897CBAF4F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038140"/>
              </p:ext>
            </p:extLst>
          </p:nvPr>
        </p:nvGraphicFramePr>
        <p:xfrm>
          <a:off x="3760967" y="672112"/>
          <a:ext cx="5025224" cy="3872156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489981">
                  <a:extLst>
                    <a:ext uri="{9D8B030D-6E8A-4147-A177-3AD203B41FA5}">
                      <a16:colId xmlns:a16="http://schemas.microsoft.com/office/drawing/2014/main" val="1351021529"/>
                    </a:ext>
                  </a:extLst>
                </a:gridCol>
                <a:gridCol w="1700496">
                  <a:extLst>
                    <a:ext uri="{9D8B030D-6E8A-4147-A177-3AD203B41FA5}">
                      <a16:colId xmlns:a16="http://schemas.microsoft.com/office/drawing/2014/main" val="454284102"/>
                    </a:ext>
                  </a:extLst>
                </a:gridCol>
                <a:gridCol w="1834747">
                  <a:extLst>
                    <a:ext uri="{9D8B030D-6E8A-4147-A177-3AD203B41FA5}">
                      <a16:colId xmlns:a16="http://schemas.microsoft.com/office/drawing/2014/main" val="2786218659"/>
                    </a:ext>
                  </a:extLst>
                </a:gridCol>
              </a:tblGrid>
              <a:tr h="6801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b="1" dirty="0">
                          <a:solidFill>
                            <a:schemeClr val="bg1"/>
                          </a:solidFill>
                          <a:effectLst/>
                        </a:rPr>
                        <a:t>Характеристика</a:t>
                      </a:r>
                      <a:endParaRPr lang="uk-UA" sz="13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</a:rPr>
                        <a:t>Global Forest Watch</a:t>
                      </a:r>
                      <a:endParaRPr lang="en-US" sz="13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Вартовий Дерев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595486"/>
                  </a:ext>
                </a:extLst>
              </a:tr>
              <a:tr h="6801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b="1">
                          <a:solidFill>
                            <a:srgbClr val="1F1F1F"/>
                          </a:solidFill>
                          <a:effectLst/>
                        </a:rPr>
                        <a:t>Мова</a:t>
                      </a:r>
                      <a:endParaRPr lang="uk-UA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Англійська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b="1" dirty="0">
                          <a:solidFill>
                            <a:srgbClr val="1F1F1F"/>
                          </a:solidFill>
                          <a:effectLst/>
                        </a:rPr>
                        <a:t>Українська</a:t>
                      </a:r>
                      <a:endParaRPr lang="uk-UA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47629"/>
                  </a:ext>
                </a:extLst>
              </a:tr>
              <a:tr h="9049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b="1">
                          <a:solidFill>
                            <a:srgbClr val="1F1F1F"/>
                          </a:solidFill>
                          <a:effectLst/>
                        </a:rPr>
                        <a:t>Швидкість</a:t>
                      </a:r>
                      <a:endParaRPr lang="uk-UA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dirty="0">
                          <a:solidFill>
                            <a:srgbClr val="1F1F1F"/>
                          </a:solidFill>
                          <a:effectLst/>
                        </a:rPr>
                        <a:t>Важкий сайт, інколи </a:t>
                      </a:r>
                      <a:r>
                        <a:rPr lang="uk-UA" sz="1300" dirty="0" err="1">
                          <a:solidFill>
                            <a:srgbClr val="1F1F1F"/>
                          </a:solidFill>
                          <a:effectLst/>
                        </a:rPr>
                        <a:t>підвисає</a:t>
                      </a:r>
                      <a:endParaRPr lang="uk-UA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b="1" dirty="0">
                          <a:solidFill>
                            <a:srgbClr val="1F1F1F"/>
                          </a:solidFill>
                          <a:effectLst/>
                        </a:rPr>
                        <a:t>Легкий і швидкий</a:t>
                      </a:r>
                      <a:r>
                        <a:rPr lang="uk-UA" sz="1300" dirty="0">
                          <a:solidFill>
                            <a:srgbClr val="1F1F1F"/>
                          </a:solidFill>
                          <a:effectLst/>
                        </a:rPr>
                        <a:t> (мінімум графіки)</a:t>
                      </a:r>
                      <a:endParaRPr lang="uk-UA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964060"/>
                  </a:ext>
                </a:extLst>
              </a:tr>
              <a:tr h="6801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b="1" dirty="0">
                          <a:solidFill>
                            <a:srgbClr val="1F1F1F"/>
                          </a:solidFill>
                          <a:effectLst/>
                        </a:rPr>
                        <a:t>Доступ до коду</a:t>
                      </a:r>
                      <a:endParaRPr lang="uk-UA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dirty="0">
                          <a:solidFill>
                            <a:srgbClr val="1F1F1F"/>
                          </a:solidFill>
                          <a:effectLst/>
                        </a:rPr>
                        <a:t>Закритий</a:t>
                      </a:r>
                      <a:endParaRPr lang="uk-UA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b="1">
                          <a:solidFill>
                            <a:srgbClr val="1F1F1F"/>
                          </a:solidFill>
                          <a:effectLst/>
                        </a:rPr>
                        <a:t>Повністю </a:t>
                      </a: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Open-source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692614"/>
                  </a:ext>
                </a:extLst>
              </a:tr>
              <a:tr h="92685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b="1">
                          <a:solidFill>
                            <a:srgbClr val="1F1F1F"/>
                          </a:solidFill>
                          <a:effectLst/>
                        </a:rPr>
                        <a:t>Можливість розвитку</a:t>
                      </a:r>
                      <a:endParaRPr lang="uk-UA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uk-UA" sz="1300" dirty="0">
                          <a:solidFill>
                            <a:srgbClr val="1F1F1F"/>
                          </a:solidFill>
                          <a:effectLst/>
                        </a:rPr>
                        <a:t>Тільки авторами 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GFW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300" b="1" dirty="0">
                          <a:solidFill>
                            <a:srgbClr val="1F1F1F"/>
                          </a:solidFill>
                          <a:effectLst/>
                        </a:rPr>
                        <a:t>Будь-</a:t>
                      </a:r>
                      <a:r>
                        <a:rPr lang="ru-RU" sz="1300" b="1" dirty="0" err="1">
                          <a:solidFill>
                            <a:srgbClr val="1F1F1F"/>
                          </a:solidFill>
                          <a:effectLst/>
                        </a:rPr>
                        <a:t>хто</a:t>
                      </a:r>
                      <a:r>
                        <a:rPr lang="ru-RU" sz="1300" b="1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ru-RU" sz="1300" b="1" dirty="0" err="1">
                          <a:solidFill>
                            <a:srgbClr val="1F1F1F"/>
                          </a:solidFill>
                          <a:effectLst/>
                        </a:rPr>
                        <a:t>може</a:t>
                      </a:r>
                      <a:r>
                        <a:rPr lang="ru-RU" sz="1300" b="1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ru-RU" sz="1300" b="1" dirty="0" err="1">
                          <a:solidFill>
                            <a:srgbClr val="1F1F1F"/>
                          </a:solidFill>
                          <a:effectLst/>
                        </a:rPr>
                        <a:t>підхопити</a:t>
                      </a:r>
                      <a:r>
                        <a:rPr lang="ru-RU" sz="1300" b="1" dirty="0">
                          <a:solidFill>
                            <a:srgbClr val="1F1F1F"/>
                          </a:solidFill>
                          <a:effectLst/>
                        </a:rPr>
                        <a:t> й </a:t>
                      </a:r>
                      <a:r>
                        <a:rPr lang="ru-RU" sz="1300" b="1" dirty="0" err="1">
                          <a:solidFill>
                            <a:srgbClr val="1F1F1F"/>
                          </a:solidFill>
                          <a:effectLst/>
                        </a:rPr>
                        <a:t>додати</a:t>
                      </a:r>
                      <a:r>
                        <a:rPr lang="ru-RU" sz="1300" b="1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ru-RU" sz="1300" b="1" dirty="0" err="1">
                          <a:solidFill>
                            <a:srgbClr val="1F1F1F"/>
                          </a:solidFill>
                          <a:effectLst/>
                        </a:rPr>
                        <a:t>своє</a:t>
                      </a:r>
                      <a:endParaRPr lang="ru-RU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775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15" y="898814"/>
            <a:ext cx="2913139" cy="33458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uk-UA" sz="2800" dirty="0">
                <a:solidFill>
                  <a:srgbClr val="FFFFFF"/>
                </a:solidFill>
                <a:latin typeface="Aptos Slab ExtraBold" panose="020B0004020202020204" pitchFamily="34" charset="0"/>
              </a:rPr>
              <a:t>Технологічний стек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477143"/>
            <a:ext cx="5389895" cy="4189214"/>
          </a:xfrm>
        </p:spPr>
        <p:txBody>
          <a:bodyPr anchor="ctr">
            <a:noAutofit/>
          </a:bodyPr>
          <a:lstStyle/>
          <a:p>
            <a:pPr lvl="0">
              <a:lnSpc>
                <a:spcPct val="90000"/>
              </a:lnSpc>
            </a:pPr>
            <a:r>
              <a:rPr lang="uk-UA" sz="2000" b="1" i="1" dirty="0">
                <a:latin typeface="Aptos Slab SemiBold" panose="020B0004020202020204" pitchFamily="34" charset="0"/>
              </a:rPr>
              <a:t>Дані</a:t>
            </a:r>
            <a:r>
              <a:rPr lang="uk-UA" sz="2000" b="1" dirty="0">
                <a:latin typeface="Aptos Slab SemiBold" panose="020B0004020202020204" pitchFamily="34" charset="0"/>
              </a:rPr>
              <a:t>:</a:t>
            </a:r>
            <a:r>
              <a:rPr lang="uk-UA" sz="2000" dirty="0">
                <a:latin typeface="Aptos Slab SemiBold" panose="020B0004020202020204" pitchFamily="34" charset="0"/>
              </a:rPr>
              <a:t> </a:t>
            </a:r>
            <a:r>
              <a:rPr lang="en-US" sz="2000" dirty="0">
                <a:latin typeface="Aptos Slab SemiBold" panose="020B0004020202020204" pitchFamily="34" charset="0"/>
              </a:rPr>
              <a:t>Sentinel-2 L2A </a:t>
            </a:r>
            <a:r>
              <a:rPr lang="uk-UA" sz="2000" dirty="0">
                <a:latin typeface="Aptos Slab SemiBold" panose="020B0004020202020204" pitchFamily="34" charset="0"/>
              </a:rPr>
              <a:t>через </a:t>
            </a:r>
            <a:r>
              <a:rPr lang="en-US" sz="2000" dirty="0">
                <a:latin typeface="Aptos Slab SemiBold" panose="020B0004020202020204" pitchFamily="34" charset="0"/>
              </a:rPr>
              <a:t>Copernicus Data Space Ecosystem</a:t>
            </a:r>
          </a:p>
          <a:p>
            <a:pPr lvl="0">
              <a:lnSpc>
                <a:spcPct val="90000"/>
              </a:lnSpc>
            </a:pPr>
            <a:r>
              <a:rPr lang="uk-UA" sz="2000" b="1" i="1" dirty="0">
                <a:latin typeface="Aptos Slab SemiBold" panose="020B0004020202020204" pitchFamily="34" charset="0"/>
              </a:rPr>
              <a:t>Аналіз</a:t>
            </a:r>
            <a:r>
              <a:rPr lang="uk-UA" sz="2000" b="1" dirty="0">
                <a:latin typeface="Aptos Slab SemiBold" panose="020B0004020202020204" pitchFamily="34" charset="0"/>
              </a:rPr>
              <a:t>:</a:t>
            </a:r>
            <a:r>
              <a:rPr lang="uk-UA" sz="2000" dirty="0">
                <a:latin typeface="Aptos Slab SemiBold" panose="020B0004020202020204" pitchFamily="34" charset="0"/>
              </a:rPr>
              <a:t> </a:t>
            </a:r>
            <a:r>
              <a:rPr lang="en-US" sz="2000" dirty="0">
                <a:latin typeface="Aptos Slab SemiBold" panose="020B0004020202020204" pitchFamily="34" charset="0"/>
              </a:rPr>
              <a:t>Python (requests, </a:t>
            </a:r>
            <a:r>
              <a:rPr lang="en-US" sz="2000" dirty="0" err="1">
                <a:latin typeface="Aptos Slab SemiBold" panose="020B0004020202020204" pitchFamily="34" charset="0"/>
              </a:rPr>
              <a:t>numpy</a:t>
            </a:r>
            <a:r>
              <a:rPr lang="en-US" sz="2000" dirty="0">
                <a:latin typeface="Aptos Slab SemiBold" panose="020B0004020202020204" pitchFamily="34" charset="0"/>
              </a:rPr>
              <a:t>, Pillow, </a:t>
            </a:r>
            <a:r>
              <a:rPr lang="en-US" sz="2000" dirty="0" err="1">
                <a:latin typeface="Aptos Slab SemiBold" panose="020B0004020202020204" pitchFamily="34" charset="0"/>
              </a:rPr>
              <a:t>tifffile</a:t>
            </a:r>
            <a:r>
              <a:rPr lang="en-US" sz="2000" dirty="0">
                <a:latin typeface="Aptos Slab SemiBold" panose="020B0004020202020204" pitchFamily="34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uk-UA" sz="2000" b="1" i="1" dirty="0" err="1">
                <a:latin typeface="Aptos Slab SemiBold" panose="020B0004020202020204" pitchFamily="34" charset="0"/>
              </a:rPr>
              <a:t>Фронтенд</a:t>
            </a:r>
            <a:r>
              <a:rPr lang="uk-UA" sz="2000" b="1" dirty="0">
                <a:latin typeface="Aptos Slab SemiBold" panose="020B0004020202020204" pitchFamily="34" charset="0"/>
              </a:rPr>
              <a:t>:</a:t>
            </a:r>
            <a:r>
              <a:rPr lang="uk-UA" sz="2000" dirty="0">
                <a:latin typeface="Aptos Slab SemiBold" panose="020B0004020202020204" pitchFamily="34" charset="0"/>
              </a:rPr>
              <a:t> </a:t>
            </a:r>
            <a:r>
              <a:rPr lang="en-US" sz="2000" dirty="0">
                <a:latin typeface="Aptos Slab SemiBold" panose="020B0004020202020204" pitchFamily="34" charset="0"/>
              </a:rPr>
              <a:t>Next.js 16 + TypeScript + Tailwind</a:t>
            </a:r>
          </a:p>
          <a:p>
            <a:pPr lvl="0">
              <a:lnSpc>
                <a:spcPct val="90000"/>
              </a:lnSpc>
            </a:pPr>
            <a:r>
              <a:rPr lang="uk-UA" sz="2000" b="1" i="1" dirty="0">
                <a:latin typeface="Aptos Slab SemiBold" panose="020B0004020202020204" pitchFamily="34" charset="0"/>
              </a:rPr>
              <a:t>Карта</a:t>
            </a:r>
            <a:r>
              <a:rPr lang="uk-UA" sz="2000" b="1" dirty="0">
                <a:latin typeface="Aptos Slab SemiBold" panose="020B0004020202020204" pitchFamily="34" charset="0"/>
              </a:rPr>
              <a:t>:</a:t>
            </a:r>
            <a:r>
              <a:rPr lang="uk-UA" sz="2000" dirty="0">
                <a:latin typeface="Aptos Slab SemiBold" panose="020B0004020202020204" pitchFamily="34" charset="0"/>
              </a:rPr>
              <a:t> </a:t>
            </a:r>
            <a:r>
              <a:rPr lang="en-US" sz="2000" dirty="0" err="1">
                <a:latin typeface="Aptos Slab SemiBold" panose="020B0004020202020204" pitchFamily="34" charset="0"/>
              </a:rPr>
              <a:t>MapLibre</a:t>
            </a:r>
            <a:r>
              <a:rPr lang="en-US" sz="2000" dirty="0">
                <a:latin typeface="Aptos Slab SemiBold" panose="020B0004020202020204" pitchFamily="34" charset="0"/>
              </a:rPr>
              <a:t> GL JS + OpenStreetMap</a:t>
            </a:r>
          </a:p>
          <a:p>
            <a:pPr lvl="0">
              <a:lnSpc>
                <a:spcPct val="90000"/>
              </a:lnSpc>
            </a:pPr>
            <a:r>
              <a:rPr lang="uk-UA" sz="2000" b="1" i="1" dirty="0">
                <a:latin typeface="Aptos Slab SemiBold" panose="020B0004020202020204" pitchFamily="34" charset="0"/>
              </a:rPr>
              <a:t>Хостинг</a:t>
            </a:r>
            <a:r>
              <a:rPr lang="uk-UA" sz="2000" b="1" dirty="0">
                <a:latin typeface="Aptos Slab SemiBold" panose="020B0004020202020204" pitchFamily="34" charset="0"/>
              </a:rPr>
              <a:t>:</a:t>
            </a:r>
            <a:r>
              <a:rPr lang="uk-UA" sz="2000" dirty="0">
                <a:latin typeface="Aptos Slab SemiBold" panose="020B0004020202020204" pitchFamily="34" charset="0"/>
              </a:rPr>
              <a:t> </a:t>
            </a:r>
            <a:r>
              <a:rPr lang="en-US" sz="2000" dirty="0" err="1">
                <a:latin typeface="Aptos Slab SemiBold" panose="020B0004020202020204" pitchFamily="34" charset="0"/>
              </a:rPr>
              <a:t>Vercel</a:t>
            </a:r>
            <a:r>
              <a:rPr lang="en-US" sz="2000" dirty="0">
                <a:latin typeface="Aptos Slab SemiBold" panose="020B0004020202020204" pitchFamily="34" charset="0"/>
              </a:rPr>
              <a:t> (Hobby tier)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uk-UA" sz="2000" b="1" dirty="0">
                <a:latin typeface="Aptos Slab SemiBold" panose="020B0004020202020204" pitchFamily="34" charset="0"/>
              </a:rPr>
              <a:t>Сумарна вартість: 0 грн.</a:t>
            </a:r>
            <a:r>
              <a:rPr lang="uk-UA" sz="2000" dirty="0">
                <a:latin typeface="Aptos Slab SemiBold" panose="020B0004020202020204" pitchFamily="34" charset="0"/>
              </a:rPr>
              <a:t> Усе на 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sz="2000" dirty="0">
                <a:latin typeface="Aptos Slab SemiBold" panose="020B0004020202020204" pitchFamily="34" charset="0"/>
              </a:rPr>
              <a:t>open-source </a:t>
            </a:r>
            <a:r>
              <a:rPr lang="uk-UA" sz="2000" dirty="0">
                <a:latin typeface="Aptos Slab SemiBold" panose="020B0004020202020204" pitchFamily="34" charset="0"/>
              </a:rPr>
              <a:t>і безкоштовних тарифах.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uk-UA" sz="4100" dirty="0">
                <a:latin typeface="Aptos Slab ExtraBold" panose="020B0004020202020204" pitchFamily="34" charset="0"/>
              </a:rPr>
              <a:t>Що далі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sX0" fmla="*/ 0 w 8140446"/>
              <a:gd name="csY0" fmla="*/ 0 h 13716"/>
              <a:gd name="csX1" fmla="*/ 434157 w 8140446"/>
              <a:gd name="csY1" fmla="*/ 0 h 13716"/>
              <a:gd name="csX2" fmla="*/ 1193932 w 8140446"/>
              <a:gd name="csY2" fmla="*/ 0 h 13716"/>
              <a:gd name="csX3" fmla="*/ 1628089 w 8140446"/>
              <a:gd name="csY3" fmla="*/ 0 h 13716"/>
              <a:gd name="csX4" fmla="*/ 2225055 w 8140446"/>
              <a:gd name="csY4" fmla="*/ 0 h 13716"/>
              <a:gd name="csX5" fmla="*/ 3066235 w 8140446"/>
              <a:gd name="csY5" fmla="*/ 0 h 13716"/>
              <a:gd name="csX6" fmla="*/ 3744605 w 8140446"/>
              <a:gd name="csY6" fmla="*/ 0 h 13716"/>
              <a:gd name="csX7" fmla="*/ 4504380 w 8140446"/>
              <a:gd name="csY7" fmla="*/ 0 h 13716"/>
              <a:gd name="csX8" fmla="*/ 5101346 w 8140446"/>
              <a:gd name="csY8" fmla="*/ 0 h 13716"/>
              <a:gd name="csX9" fmla="*/ 5779717 w 8140446"/>
              <a:gd name="csY9" fmla="*/ 0 h 13716"/>
              <a:gd name="csX10" fmla="*/ 6620896 w 8140446"/>
              <a:gd name="csY10" fmla="*/ 0 h 13716"/>
              <a:gd name="csX11" fmla="*/ 7136458 w 8140446"/>
              <a:gd name="csY11" fmla="*/ 0 h 13716"/>
              <a:gd name="csX12" fmla="*/ 8140446 w 8140446"/>
              <a:gd name="csY12" fmla="*/ 0 h 13716"/>
              <a:gd name="csX13" fmla="*/ 8140446 w 8140446"/>
              <a:gd name="csY13" fmla="*/ 13716 h 13716"/>
              <a:gd name="csX14" fmla="*/ 7543480 w 8140446"/>
              <a:gd name="csY14" fmla="*/ 13716 h 13716"/>
              <a:gd name="csX15" fmla="*/ 7109323 w 8140446"/>
              <a:gd name="csY15" fmla="*/ 13716 h 13716"/>
              <a:gd name="csX16" fmla="*/ 6430952 w 8140446"/>
              <a:gd name="csY16" fmla="*/ 13716 h 13716"/>
              <a:gd name="csX17" fmla="*/ 5915391 w 8140446"/>
              <a:gd name="csY17" fmla="*/ 13716 h 13716"/>
              <a:gd name="csX18" fmla="*/ 5237020 w 8140446"/>
              <a:gd name="csY18" fmla="*/ 13716 h 13716"/>
              <a:gd name="csX19" fmla="*/ 4558650 w 8140446"/>
              <a:gd name="csY19" fmla="*/ 13716 h 13716"/>
              <a:gd name="csX20" fmla="*/ 3880279 w 8140446"/>
              <a:gd name="csY20" fmla="*/ 13716 h 13716"/>
              <a:gd name="csX21" fmla="*/ 3201909 w 8140446"/>
              <a:gd name="csY21" fmla="*/ 13716 h 13716"/>
              <a:gd name="csX22" fmla="*/ 2604943 w 8140446"/>
              <a:gd name="csY22" fmla="*/ 13716 h 13716"/>
              <a:gd name="csX23" fmla="*/ 1845168 w 8140446"/>
              <a:gd name="csY23" fmla="*/ 13716 h 13716"/>
              <a:gd name="csX24" fmla="*/ 1166797 w 8140446"/>
              <a:gd name="csY24" fmla="*/ 13716 h 13716"/>
              <a:gd name="csX25" fmla="*/ 0 w 8140446"/>
              <a:gd name="csY25" fmla="*/ 13716 h 13716"/>
              <a:gd name="csX26" fmla="*/ 0 w 8140446"/>
              <a:gd name="csY2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038"/>
            <a:ext cx="7886700" cy="3188970"/>
          </a:xfrm>
        </p:spPr>
        <p:txBody>
          <a:bodyPr>
            <a:normAutofit/>
          </a:bodyPr>
          <a:lstStyle/>
          <a:p>
            <a:pPr lvl="0"/>
            <a:r>
              <a:rPr lang="uk-UA" sz="1700" b="1" dirty="0">
                <a:latin typeface="Aptos Slab SemiBold" panose="020B0004020202020204" pitchFamily="34" charset="0"/>
              </a:rPr>
              <a:t>Реальні </a:t>
            </a:r>
            <a:r>
              <a:rPr lang="en-US" sz="1700" b="1" dirty="0">
                <a:latin typeface="Aptos Slab SemiBold" panose="020B0004020202020204" pitchFamily="34" charset="0"/>
              </a:rPr>
              <a:t>AOI</a:t>
            </a:r>
            <a:r>
              <a:rPr lang="en-US" sz="1700" dirty="0">
                <a:latin typeface="Aptos Slab SemiBold" panose="020B0004020202020204" pitchFamily="34" charset="0"/>
              </a:rPr>
              <a:t> </a:t>
            </a:r>
            <a:r>
              <a:rPr lang="uk-UA" sz="1700" dirty="0">
                <a:latin typeface="Aptos Slab SemiBold" panose="020B0004020202020204" pitchFamily="34" charset="0"/>
              </a:rPr>
              <a:t>з </a:t>
            </a:r>
            <a:r>
              <a:rPr lang="en-US" sz="1700" dirty="0">
                <a:latin typeface="Aptos Slab SemiBold" panose="020B0004020202020204" pitchFamily="34" charset="0"/>
              </a:rPr>
              <a:t>Global Forest Watch </a:t>
            </a:r>
            <a:r>
              <a:rPr lang="uk-UA" sz="1700" dirty="0">
                <a:latin typeface="Aptos Slab SemiBold" panose="020B0004020202020204" pitchFamily="34" charset="0"/>
              </a:rPr>
              <a:t>замість умовних координат</a:t>
            </a:r>
          </a:p>
          <a:p>
            <a:pPr lvl="0"/>
            <a:r>
              <a:rPr lang="uk-UA" sz="1700" b="1" dirty="0">
                <a:latin typeface="Aptos Slab SemiBold" panose="020B0004020202020204" pitchFamily="34" charset="0"/>
              </a:rPr>
              <a:t>Щотижневе оновлення</a:t>
            </a:r>
            <a:r>
              <a:rPr lang="uk-UA" sz="1700" dirty="0">
                <a:latin typeface="Aptos Slab SemiBold" panose="020B0004020202020204" pitchFamily="34" charset="0"/>
              </a:rPr>
              <a:t> через </a:t>
            </a:r>
            <a:r>
              <a:rPr lang="en-US" sz="1700" dirty="0">
                <a:latin typeface="Aptos Slab SemiBold" panose="020B0004020202020204" pitchFamily="34" charset="0"/>
              </a:rPr>
              <a:t>GitHub Actions</a:t>
            </a:r>
          </a:p>
          <a:p>
            <a:pPr lvl="0"/>
            <a:r>
              <a:rPr lang="uk-UA" sz="1700" b="1" dirty="0" err="1">
                <a:latin typeface="Aptos Slab SemiBold" panose="020B0004020202020204" pitchFamily="34" charset="0"/>
              </a:rPr>
              <a:t>Нейромережа</a:t>
            </a:r>
            <a:r>
              <a:rPr lang="uk-UA" sz="1700" b="1" dirty="0">
                <a:latin typeface="Aptos Slab SemiBold" panose="020B0004020202020204" pitchFamily="34" charset="0"/>
              </a:rPr>
              <a:t> </a:t>
            </a:r>
            <a:r>
              <a:rPr lang="en-US" sz="1700" b="1" dirty="0">
                <a:latin typeface="Aptos Slab SemiBold" panose="020B0004020202020204" pitchFamily="34" charset="0"/>
              </a:rPr>
              <a:t>U-Net</a:t>
            </a:r>
            <a:r>
              <a:rPr lang="en-US" sz="1700" dirty="0">
                <a:latin typeface="Aptos Slab SemiBold" panose="020B0004020202020204" pitchFamily="34" charset="0"/>
              </a:rPr>
              <a:t> </a:t>
            </a:r>
            <a:r>
              <a:rPr lang="uk-UA" sz="1700" dirty="0">
                <a:latin typeface="Aptos Slab SemiBold" panose="020B0004020202020204" pitchFamily="34" charset="0"/>
              </a:rPr>
              <a:t>замість простого </a:t>
            </a:r>
            <a:r>
              <a:rPr lang="en-US" sz="1700" dirty="0">
                <a:latin typeface="Aptos Slab SemiBold" panose="020B0004020202020204" pitchFamily="34" charset="0"/>
              </a:rPr>
              <a:t>NDVI-</a:t>
            </a:r>
            <a:r>
              <a:rPr lang="uk-UA" sz="1700" dirty="0">
                <a:latin typeface="Aptos Slab SemiBold" panose="020B0004020202020204" pitchFamily="34" charset="0"/>
              </a:rPr>
              <a:t>порогу</a:t>
            </a:r>
          </a:p>
          <a:p>
            <a:pPr lvl="0"/>
            <a:r>
              <a:rPr lang="uk-UA" sz="1700" b="1" dirty="0">
                <a:latin typeface="Aptos Slab SemiBold" panose="020B0004020202020204" pitchFamily="34" charset="0"/>
              </a:rPr>
              <a:t>Інтеграція з Держекоінспекцією</a:t>
            </a:r>
            <a:r>
              <a:rPr lang="uk-UA" sz="1700" dirty="0">
                <a:latin typeface="Aptos Slab SemiBold" panose="020B0004020202020204" pitchFamily="34" charset="0"/>
              </a:rPr>
              <a:t> — автоматичні листи про підозрілі ділянки</a:t>
            </a:r>
          </a:p>
          <a:p>
            <a:r>
              <a:rPr lang="en-US" sz="1700" dirty="0">
                <a:latin typeface="Aptos Slab SemiBold" panose="020B0004020202020204" pitchFamily="34" charset="0"/>
              </a:rPr>
              <a:t>Live demo: </a:t>
            </a:r>
            <a:r>
              <a:rPr lang="en-US" sz="1700" dirty="0" err="1">
                <a:latin typeface="Aptos Slab SemiBold" panose="020B0004020202020204" pitchFamily="34" charset="0"/>
              </a:rPr>
              <a:t>treeguardian.vercel.app</a:t>
            </a:r>
            <a:endParaRPr lang="en-US" sz="1700" dirty="0">
              <a:latin typeface="Aptos Slab SemiBold" panose="020B0004020202020204" pitchFamily="34" charset="0"/>
            </a:endParaRPr>
          </a:p>
          <a:p>
            <a:pPr marL="0" lvl="0" indent="0">
              <a:buNone/>
            </a:pPr>
            <a:endParaRPr lang="uk-UA" sz="1700" dirty="0">
              <a:latin typeface="Aptos Slab SemiBold" panose="020B0004020202020204" pitchFamily="34" charset="0"/>
            </a:endParaRPr>
          </a:p>
          <a:p>
            <a:pPr marL="0" lvl="0" indent="0" algn="ctr">
              <a:buNone/>
            </a:pPr>
            <a:r>
              <a:rPr lang="uk-UA" sz="4000" b="1" dirty="0">
                <a:latin typeface="Aptos Slab SemiBold" panose="020B0004020202020204" pitchFamily="34" charset="0"/>
              </a:rPr>
              <a:t>Дякую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451</Words>
  <Application>Microsoft Office PowerPoint</Application>
  <PresentationFormat>Екран (16:9)</PresentationFormat>
  <Paragraphs>58</Paragraphs>
  <Slides>10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8" baseType="lpstr">
      <vt:lpstr>Aptos Slab Black</vt:lpstr>
      <vt:lpstr>Aptos Slab ExtraBold</vt:lpstr>
      <vt:lpstr>Aptos Slab SemiBold</vt:lpstr>
      <vt:lpstr>Arial</vt:lpstr>
      <vt:lpstr>Calibri</vt:lpstr>
      <vt:lpstr>Courier</vt:lpstr>
      <vt:lpstr>Google Sans Text</vt:lpstr>
      <vt:lpstr>Office Theme</vt:lpstr>
      <vt:lpstr>Вартовий Дерев</vt:lpstr>
      <vt:lpstr>Проблема</vt:lpstr>
      <vt:lpstr>Ідея</vt:lpstr>
      <vt:lpstr>Як це працює: NDVI</vt:lpstr>
      <vt:lpstr>Архітектура</vt:lpstr>
      <vt:lpstr>Демо: карта Карпат з 5 ділянками</vt:lpstr>
      <vt:lpstr>Знайдена вирубка дерев біля Солотвина: 32.4 га</vt:lpstr>
      <vt:lpstr>Аналоги і чим ми відрізняємось</vt:lpstr>
      <vt:lpstr>Технологічний стек</vt:lpstr>
      <vt:lpstr>Що далі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ДеревоВартовий</dc:title>
  <dc:creator>Возняк Ярема, 9-Б</dc:creator>
  <cp:keywords/>
  <cp:lastModifiedBy>Natalka Voznyak</cp:lastModifiedBy>
  <cp:revision>2</cp:revision>
  <dcterms:created xsi:type="dcterms:W3CDTF">2026-04-17T09:45:36Z</dcterms:created>
  <dcterms:modified xsi:type="dcterms:W3CDTF">2026-04-17T13:15:35Z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Івано-Франківськ, квітень 2026</vt:lpwstr>
  </property>
  <property fmtid="{D5CDD505-2E9C-101B-9397-08002B2CF9AE}" pid="3" name="subtitle">
    <vt:lpwstr>Веб-моніторинг рубок лісу в Карпатах за супутниковими знімками Sentinel-2</vt:lpwstr>
  </property>
</Properties>
</file>