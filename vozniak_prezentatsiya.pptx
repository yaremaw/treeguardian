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073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D1C9DE-DB0B-4E73-9607-9FF032EBF576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6279B81-7270-4E30-941D-2AA9FFC60133}">
      <dgm:prSet/>
      <dgm:spPr/>
      <dgm:t>
        <a:bodyPr/>
        <a:lstStyle/>
        <a:p>
          <a:r>
            <a:rPr lang="ru-RU"/>
            <a:t>недооцінка складності гри;</a:t>
          </a:r>
          <a:endParaRPr lang="en-US"/>
        </a:p>
      </dgm:t>
    </dgm:pt>
    <dgm:pt modelId="{97140F95-810E-4B95-8374-3587487102D9}" type="parTrans" cxnId="{F43C58A9-F77B-4EBF-97A8-86970FEB4927}">
      <dgm:prSet/>
      <dgm:spPr/>
      <dgm:t>
        <a:bodyPr/>
        <a:lstStyle/>
        <a:p>
          <a:endParaRPr lang="en-US"/>
        </a:p>
      </dgm:t>
    </dgm:pt>
    <dgm:pt modelId="{9C083574-8AD9-4E07-A17B-75894C6899F7}" type="sibTrans" cxnId="{F43C58A9-F77B-4EBF-97A8-86970FEB4927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EA662BF-32A4-4D7F-84AD-A9BBDDBDA568}">
      <dgm:prSet/>
      <dgm:spPr/>
      <dgm:t>
        <a:bodyPr/>
        <a:lstStyle/>
        <a:p>
          <a:r>
            <a:rPr lang="ru-RU"/>
            <a:t>неготовність учителів інтегрувати гру в навчальний процес;</a:t>
          </a:r>
          <a:endParaRPr lang="en-US"/>
        </a:p>
      </dgm:t>
    </dgm:pt>
    <dgm:pt modelId="{C733C356-61C3-4C5C-A439-49E1F03F7DB9}" type="parTrans" cxnId="{B72B5CDB-14A9-4454-88DB-ADF83493ABB5}">
      <dgm:prSet/>
      <dgm:spPr/>
      <dgm:t>
        <a:bodyPr/>
        <a:lstStyle/>
        <a:p>
          <a:endParaRPr lang="en-US"/>
        </a:p>
      </dgm:t>
    </dgm:pt>
    <dgm:pt modelId="{605DB240-0760-4B2C-B154-7626B9E20D63}" type="sibTrans" cxnId="{B72B5CDB-14A9-4454-88DB-ADF83493ABB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413635F-08F7-4A7E-8E95-4E0448A6702C}">
      <dgm:prSet/>
      <dgm:spPr/>
      <dgm:t>
        <a:bodyPr/>
        <a:lstStyle/>
        <a:p>
          <a:r>
            <a:rPr lang="ru-RU"/>
            <a:t>потреба в подальшій адаптації для молодших школярів.</a:t>
          </a:r>
          <a:endParaRPr lang="en-US"/>
        </a:p>
      </dgm:t>
    </dgm:pt>
    <dgm:pt modelId="{68814EF2-4946-4BE2-97F0-F596B5000C11}" type="parTrans" cxnId="{6493F0A0-135C-4BA2-9EF8-0B7E4DE75934}">
      <dgm:prSet/>
      <dgm:spPr/>
      <dgm:t>
        <a:bodyPr/>
        <a:lstStyle/>
        <a:p>
          <a:endParaRPr lang="en-US"/>
        </a:p>
      </dgm:t>
    </dgm:pt>
    <dgm:pt modelId="{914BAE4B-6B4B-41A7-B402-B4883502338A}" type="sibTrans" cxnId="{6493F0A0-135C-4BA2-9EF8-0B7E4DE7593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E9EF940-AA28-4C59-98E3-E62669C2ADBD}" type="pres">
      <dgm:prSet presAssocID="{39D1C9DE-DB0B-4E73-9607-9FF032EBF576}" presName="Name0" presStyleCnt="0">
        <dgm:presLayoutVars>
          <dgm:animLvl val="lvl"/>
          <dgm:resizeHandles val="exact"/>
        </dgm:presLayoutVars>
      </dgm:prSet>
      <dgm:spPr/>
    </dgm:pt>
    <dgm:pt modelId="{EE52F709-4206-4071-ABF6-DC821B4C8C68}" type="pres">
      <dgm:prSet presAssocID="{56279B81-7270-4E30-941D-2AA9FFC60133}" presName="compositeNode" presStyleCnt="0">
        <dgm:presLayoutVars>
          <dgm:bulletEnabled val="1"/>
        </dgm:presLayoutVars>
      </dgm:prSet>
      <dgm:spPr/>
    </dgm:pt>
    <dgm:pt modelId="{9E878ABA-C306-45CC-945B-CC4F4388995C}" type="pres">
      <dgm:prSet presAssocID="{56279B81-7270-4E30-941D-2AA9FFC60133}" presName="bgRect" presStyleLbl="alignNode1" presStyleIdx="0" presStyleCnt="3"/>
      <dgm:spPr/>
    </dgm:pt>
    <dgm:pt modelId="{3DC9C39E-96F9-4A4F-8A4D-606F3ABC47EE}" type="pres">
      <dgm:prSet presAssocID="{9C083574-8AD9-4E07-A17B-75894C6899F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5F758E0-1A5F-4964-9364-58BA98B9B068}" type="pres">
      <dgm:prSet presAssocID="{56279B81-7270-4E30-941D-2AA9FFC60133}" presName="nodeRect" presStyleLbl="alignNode1" presStyleIdx="0" presStyleCnt="3">
        <dgm:presLayoutVars>
          <dgm:bulletEnabled val="1"/>
        </dgm:presLayoutVars>
      </dgm:prSet>
      <dgm:spPr/>
    </dgm:pt>
    <dgm:pt modelId="{339ECFBB-8609-4F56-B588-58CCAB05A856}" type="pres">
      <dgm:prSet presAssocID="{9C083574-8AD9-4E07-A17B-75894C6899F7}" presName="sibTrans" presStyleCnt="0"/>
      <dgm:spPr/>
    </dgm:pt>
    <dgm:pt modelId="{ADD3EFA5-9E47-4FDD-A403-CB6C1AF88DBF}" type="pres">
      <dgm:prSet presAssocID="{EEA662BF-32A4-4D7F-84AD-A9BBDDBDA568}" presName="compositeNode" presStyleCnt="0">
        <dgm:presLayoutVars>
          <dgm:bulletEnabled val="1"/>
        </dgm:presLayoutVars>
      </dgm:prSet>
      <dgm:spPr/>
    </dgm:pt>
    <dgm:pt modelId="{3B0420AD-542A-47AE-B882-BEE2989D1481}" type="pres">
      <dgm:prSet presAssocID="{EEA662BF-32A4-4D7F-84AD-A9BBDDBDA568}" presName="bgRect" presStyleLbl="alignNode1" presStyleIdx="1" presStyleCnt="3"/>
      <dgm:spPr/>
    </dgm:pt>
    <dgm:pt modelId="{87EC223B-864B-4321-95E9-107FFC508206}" type="pres">
      <dgm:prSet presAssocID="{605DB240-0760-4B2C-B154-7626B9E20D6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BF2308F1-9295-459F-8C85-792ED303975A}" type="pres">
      <dgm:prSet presAssocID="{EEA662BF-32A4-4D7F-84AD-A9BBDDBDA568}" presName="nodeRect" presStyleLbl="alignNode1" presStyleIdx="1" presStyleCnt="3">
        <dgm:presLayoutVars>
          <dgm:bulletEnabled val="1"/>
        </dgm:presLayoutVars>
      </dgm:prSet>
      <dgm:spPr/>
    </dgm:pt>
    <dgm:pt modelId="{7747AA92-9FB5-4FA9-9185-13FF473DE1A4}" type="pres">
      <dgm:prSet presAssocID="{605DB240-0760-4B2C-B154-7626B9E20D63}" presName="sibTrans" presStyleCnt="0"/>
      <dgm:spPr/>
    </dgm:pt>
    <dgm:pt modelId="{688ABEB5-B57D-48BC-A898-43BDC37F5CC8}" type="pres">
      <dgm:prSet presAssocID="{9413635F-08F7-4A7E-8E95-4E0448A6702C}" presName="compositeNode" presStyleCnt="0">
        <dgm:presLayoutVars>
          <dgm:bulletEnabled val="1"/>
        </dgm:presLayoutVars>
      </dgm:prSet>
      <dgm:spPr/>
    </dgm:pt>
    <dgm:pt modelId="{16B60CFE-AB5C-45C9-B3D0-200A27E519A5}" type="pres">
      <dgm:prSet presAssocID="{9413635F-08F7-4A7E-8E95-4E0448A6702C}" presName="bgRect" presStyleLbl="alignNode1" presStyleIdx="2" presStyleCnt="3"/>
      <dgm:spPr/>
    </dgm:pt>
    <dgm:pt modelId="{1ABFC2D6-D1B1-40BB-BC01-51B520A39A2A}" type="pres">
      <dgm:prSet presAssocID="{914BAE4B-6B4B-41A7-B402-B4883502338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233FFA0-FB05-452B-AED2-D8E399B5B859}" type="pres">
      <dgm:prSet presAssocID="{9413635F-08F7-4A7E-8E95-4E0448A6702C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9D09C20E-1602-4097-BD72-1D19BAAD89D0}" type="presOf" srcId="{605DB240-0760-4B2C-B154-7626B9E20D63}" destId="{87EC223B-864B-4321-95E9-107FFC508206}" srcOrd="0" destOrd="0" presId="urn:microsoft.com/office/officeart/2016/7/layout/LinearBlockProcessNumbered"/>
    <dgm:cxn modelId="{55C77D48-003E-41F3-87D4-A8DCFC3A7428}" type="presOf" srcId="{39D1C9DE-DB0B-4E73-9607-9FF032EBF576}" destId="{DE9EF940-AA28-4C59-98E3-E62669C2ADBD}" srcOrd="0" destOrd="0" presId="urn:microsoft.com/office/officeart/2016/7/layout/LinearBlockProcessNumbered"/>
    <dgm:cxn modelId="{869D4179-585C-4143-B34B-4295222E44EA}" type="presOf" srcId="{914BAE4B-6B4B-41A7-B402-B4883502338A}" destId="{1ABFC2D6-D1B1-40BB-BC01-51B520A39A2A}" srcOrd="0" destOrd="0" presId="urn:microsoft.com/office/officeart/2016/7/layout/LinearBlockProcessNumbered"/>
    <dgm:cxn modelId="{8E24717F-768F-40DA-B1A4-748AF99D4C4E}" type="presOf" srcId="{9C083574-8AD9-4E07-A17B-75894C6899F7}" destId="{3DC9C39E-96F9-4A4F-8A4D-606F3ABC47EE}" srcOrd="0" destOrd="0" presId="urn:microsoft.com/office/officeart/2016/7/layout/LinearBlockProcessNumbered"/>
    <dgm:cxn modelId="{72B24C93-292F-4000-B128-9715F72EBDA3}" type="presOf" srcId="{9413635F-08F7-4A7E-8E95-4E0448A6702C}" destId="{8233FFA0-FB05-452B-AED2-D8E399B5B859}" srcOrd="1" destOrd="0" presId="urn:microsoft.com/office/officeart/2016/7/layout/LinearBlockProcessNumbered"/>
    <dgm:cxn modelId="{B1AF069E-B04E-4CB4-AF8C-852E15379647}" type="presOf" srcId="{56279B81-7270-4E30-941D-2AA9FFC60133}" destId="{9E878ABA-C306-45CC-945B-CC4F4388995C}" srcOrd="0" destOrd="0" presId="urn:microsoft.com/office/officeart/2016/7/layout/LinearBlockProcessNumbered"/>
    <dgm:cxn modelId="{6493F0A0-135C-4BA2-9EF8-0B7E4DE75934}" srcId="{39D1C9DE-DB0B-4E73-9607-9FF032EBF576}" destId="{9413635F-08F7-4A7E-8E95-4E0448A6702C}" srcOrd="2" destOrd="0" parTransId="{68814EF2-4946-4BE2-97F0-F596B5000C11}" sibTransId="{914BAE4B-6B4B-41A7-B402-B4883502338A}"/>
    <dgm:cxn modelId="{3FF995A5-D389-4598-A98E-5D6FBB0168F4}" type="presOf" srcId="{EEA662BF-32A4-4D7F-84AD-A9BBDDBDA568}" destId="{3B0420AD-542A-47AE-B882-BEE2989D1481}" srcOrd="0" destOrd="0" presId="urn:microsoft.com/office/officeart/2016/7/layout/LinearBlockProcessNumbered"/>
    <dgm:cxn modelId="{F43C58A9-F77B-4EBF-97A8-86970FEB4927}" srcId="{39D1C9DE-DB0B-4E73-9607-9FF032EBF576}" destId="{56279B81-7270-4E30-941D-2AA9FFC60133}" srcOrd="0" destOrd="0" parTransId="{97140F95-810E-4B95-8374-3587487102D9}" sibTransId="{9C083574-8AD9-4E07-A17B-75894C6899F7}"/>
    <dgm:cxn modelId="{B72B5CDB-14A9-4454-88DB-ADF83493ABB5}" srcId="{39D1C9DE-DB0B-4E73-9607-9FF032EBF576}" destId="{EEA662BF-32A4-4D7F-84AD-A9BBDDBDA568}" srcOrd="1" destOrd="0" parTransId="{C733C356-61C3-4C5C-A439-49E1F03F7DB9}" sibTransId="{605DB240-0760-4B2C-B154-7626B9E20D63}"/>
    <dgm:cxn modelId="{A13873DE-96FC-4AB0-B4B0-FDD41C3CB156}" type="presOf" srcId="{56279B81-7270-4E30-941D-2AA9FFC60133}" destId="{15F758E0-1A5F-4964-9364-58BA98B9B068}" srcOrd="1" destOrd="0" presId="urn:microsoft.com/office/officeart/2016/7/layout/LinearBlockProcessNumbered"/>
    <dgm:cxn modelId="{5ADD49E9-5EB5-425A-92FF-8C68A6A8D5D1}" type="presOf" srcId="{9413635F-08F7-4A7E-8E95-4E0448A6702C}" destId="{16B60CFE-AB5C-45C9-B3D0-200A27E519A5}" srcOrd="0" destOrd="0" presId="urn:microsoft.com/office/officeart/2016/7/layout/LinearBlockProcessNumbered"/>
    <dgm:cxn modelId="{62AFF0F6-B371-42E8-87EE-12FE3E5B57F7}" type="presOf" srcId="{EEA662BF-32A4-4D7F-84AD-A9BBDDBDA568}" destId="{BF2308F1-9295-459F-8C85-792ED303975A}" srcOrd="1" destOrd="0" presId="urn:microsoft.com/office/officeart/2016/7/layout/LinearBlockProcessNumbered"/>
    <dgm:cxn modelId="{F19AF7A8-9694-4FA2-A66C-1C82EAD30BC4}" type="presParOf" srcId="{DE9EF940-AA28-4C59-98E3-E62669C2ADBD}" destId="{EE52F709-4206-4071-ABF6-DC821B4C8C68}" srcOrd="0" destOrd="0" presId="urn:microsoft.com/office/officeart/2016/7/layout/LinearBlockProcessNumbered"/>
    <dgm:cxn modelId="{CDFDCB19-FBD9-47E0-B723-DC87FC5517B1}" type="presParOf" srcId="{EE52F709-4206-4071-ABF6-DC821B4C8C68}" destId="{9E878ABA-C306-45CC-945B-CC4F4388995C}" srcOrd="0" destOrd="0" presId="urn:microsoft.com/office/officeart/2016/7/layout/LinearBlockProcessNumbered"/>
    <dgm:cxn modelId="{D6890D7B-6524-401E-B6AF-7E8DF8E42E31}" type="presParOf" srcId="{EE52F709-4206-4071-ABF6-DC821B4C8C68}" destId="{3DC9C39E-96F9-4A4F-8A4D-606F3ABC47EE}" srcOrd="1" destOrd="0" presId="urn:microsoft.com/office/officeart/2016/7/layout/LinearBlockProcessNumbered"/>
    <dgm:cxn modelId="{50701629-F638-4D6E-AAE1-EC3D3A89D7E9}" type="presParOf" srcId="{EE52F709-4206-4071-ABF6-DC821B4C8C68}" destId="{15F758E0-1A5F-4964-9364-58BA98B9B068}" srcOrd="2" destOrd="0" presId="urn:microsoft.com/office/officeart/2016/7/layout/LinearBlockProcessNumbered"/>
    <dgm:cxn modelId="{62F4CC21-C44E-4BB6-A6D1-6CF523547701}" type="presParOf" srcId="{DE9EF940-AA28-4C59-98E3-E62669C2ADBD}" destId="{339ECFBB-8609-4F56-B588-58CCAB05A856}" srcOrd="1" destOrd="0" presId="urn:microsoft.com/office/officeart/2016/7/layout/LinearBlockProcessNumbered"/>
    <dgm:cxn modelId="{E40C56C9-FDBE-41AB-819A-3B11C7B45608}" type="presParOf" srcId="{DE9EF940-AA28-4C59-98E3-E62669C2ADBD}" destId="{ADD3EFA5-9E47-4FDD-A403-CB6C1AF88DBF}" srcOrd="2" destOrd="0" presId="urn:microsoft.com/office/officeart/2016/7/layout/LinearBlockProcessNumbered"/>
    <dgm:cxn modelId="{775FFE7D-EF07-43AC-95E1-DD6F11776733}" type="presParOf" srcId="{ADD3EFA5-9E47-4FDD-A403-CB6C1AF88DBF}" destId="{3B0420AD-542A-47AE-B882-BEE2989D1481}" srcOrd="0" destOrd="0" presId="urn:microsoft.com/office/officeart/2016/7/layout/LinearBlockProcessNumbered"/>
    <dgm:cxn modelId="{469C9141-1DF4-4536-892A-853EAC07DE82}" type="presParOf" srcId="{ADD3EFA5-9E47-4FDD-A403-CB6C1AF88DBF}" destId="{87EC223B-864B-4321-95E9-107FFC508206}" srcOrd="1" destOrd="0" presId="urn:microsoft.com/office/officeart/2016/7/layout/LinearBlockProcessNumbered"/>
    <dgm:cxn modelId="{BE0A98CB-7C82-4D55-B9B1-B6C15E57692A}" type="presParOf" srcId="{ADD3EFA5-9E47-4FDD-A403-CB6C1AF88DBF}" destId="{BF2308F1-9295-459F-8C85-792ED303975A}" srcOrd="2" destOrd="0" presId="urn:microsoft.com/office/officeart/2016/7/layout/LinearBlockProcessNumbered"/>
    <dgm:cxn modelId="{018ABC21-6E7A-407F-B583-E401880DCD2A}" type="presParOf" srcId="{DE9EF940-AA28-4C59-98E3-E62669C2ADBD}" destId="{7747AA92-9FB5-4FA9-9185-13FF473DE1A4}" srcOrd="3" destOrd="0" presId="urn:microsoft.com/office/officeart/2016/7/layout/LinearBlockProcessNumbered"/>
    <dgm:cxn modelId="{E071EFD2-94FA-4B68-9ABB-A07F12D2B163}" type="presParOf" srcId="{DE9EF940-AA28-4C59-98E3-E62669C2ADBD}" destId="{688ABEB5-B57D-48BC-A898-43BDC37F5CC8}" srcOrd="4" destOrd="0" presId="urn:microsoft.com/office/officeart/2016/7/layout/LinearBlockProcessNumbered"/>
    <dgm:cxn modelId="{4459E628-DD4E-4615-9794-3EEE94F949E2}" type="presParOf" srcId="{688ABEB5-B57D-48BC-A898-43BDC37F5CC8}" destId="{16B60CFE-AB5C-45C9-B3D0-200A27E519A5}" srcOrd="0" destOrd="0" presId="urn:microsoft.com/office/officeart/2016/7/layout/LinearBlockProcessNumbered"/>
    <dgm:cxn modelId="{888EC079-AA7F-47F9-B8E3-A435DEFE2341}" type="presParOf" srcId="{688ABEB5-B57D-48BC-A898-43BDC37F5CC8}" destId="{1ABFC2D6-D1B1-40BB-BC01-51B520A39A2A}" srcOrd="1" destOrd="0" presId="urn:microsoft.com/office/officeart/2016/7/layout/LinearBlockProcessNumbered"/>
    <dgm:cxn modelId="{46CB3AD8-8D35-42CC-97AC-96702B757E22}" type="presParOf" srcId="{688ABEB5-B57D-48BC-A898-43BDC37F5CC8}" destId="{8233FFA0-FB05-452B-AED2-D8E399B5B85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78ABA-C306-45CC-945B-CC4F4388995C}">
      <dsp:nvSpPr>
        <dsp:cNvPr id="0" name=""/>
        <dsp:cNvSpPr/>
      </dsp:nvSpPr>
      <dsp:spPr>
        <a:xfrm>
          <a:off x="824" y="0"/>
          <a:ext cx="3339256" cy="33108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9844" tIns="0" rIns="32984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недооцінка складності гри;</a:t>
          </a:r>
          <a:endParaRPr lang="en-US" sz="2300" kern="1200"/>
        </a:p>
      </dsp:txBody>
      <dsp:txXfrm>
        <a:off x="824" y="1324326"/>
        <a:ext cx="3339256" cy="1986489"/>
      </dsp:txXfrm>
    </dsp:sp>
    <dsp:sp modelId="{3DC9C39E-96F9-4A4F-8A4D-606F3ABC47EE}">
      <dsp:nvSpPr>
        <dsp:cNvPr id="0" name=""/>
        <dsp:cNvSpPr/>
      </dsp:nvSpPr>
      <dsp:spPr>
        <a:xfrm>
          <a:off x="824" y="0"/>
          <a:ext cx="3339256" cy="1324326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9844" tIns="165100" rIns="329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4" y="0"/>
        <a:ext cx="3339256" cy="1324326"/>
      </dsp:txXfrm>
    </dsp:sp>
    <dsp:sp modelId="{3B0420AD-542A-47AE-B882-BEE2989D1481}">
      <dsp:nvSpPr>
        <dsp:cNvPr id="0" name=""/>
        <dsp:cNvSpPr/>
      </dsp:nvSpPr>
      <dsp:spPr>
        <a:xfrm>
          <a:off x="3607221" y="0"/>
          <a:ext cx="3339256" cy="33108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9844" tIns="0" rIns="32984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неготовність учителів інтегрувати гру в навчальний процес;</a:t>
          </a:r>
          <a:endParaRPr lang="en-US" sz="2300" kern="1200"/>
        </a:p>
      </dsp:txBody>
      <dsp:txXfrm>
        <a:off x="3607221" y="1324326"/>
        <a:ext cx="3339256" cy="1986489"/>
      </dsp:txXfrm>
    </dsp:sp>
    <dsp:sp modelId="{87EC223B-864B-4321-95E9-107FFC508206}">
      <dsp:nvSpPr>
        <dsp:cNvPr id="0" name=""/>
        <dsp:cNvSpPr/>
      </dsp:nvSpPr>
      <dsp:spPr>
        <a:xfrm>
          <a:off x="3607221" y="0"/>
          <a:ext cx="3339256" cy="1324326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9844" tIns="165100" rIns="329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607221" y="0"/>
        <a:ext cx="3339256" cy="1324326"/>
      </dsp:txXfrm>
    </dsp:sp>
    <dsp:sp modelId="{16B60CFE-AB5C-45C9-B3D0-200A27E519A5}">
      <dsp:nvSpPr>
        <dsp:cNvPr id="0" name=""/>
        <dsp:cNvSpPr/>
      </dsp:nvSpPr>
      <dsp:spPr>
        <a:xfrm>
          <a:off x="7213618" y="0"/>
          <a:ext cx="3339256" cy="33108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9844" tIns="0" rIns="32984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потреба в подальшій адаптації для молодших школярів.</a:t>
          </a:r>
          <a:endParaRPr lang="en-US" sz="2300" kern="1200"/>
        </a:p>
      </dsp:txBody>
      <dsp:txXfrm>
        <a:off x="7213618" y="1324326"/>
        <a:ext cx="3339256" cy="1986489"/>
      </dsp:txXfrm>
    </dsp:sp>
    <dsp:sp modelId="{1ABFC2D6-D1B1-40BB-BC01-51B520A39A2A}">
      <dsp:nvSpPr>
        <dsp:cNvPr id="0" name=""/>
        <dsp:cNvSpPr/>
      </dsp:nvSpPr>
      <dsp:spPr>
        <a:xfrm>
          <a:off x="7213618" y="0"/>
          <a:ext cx="3339256" cy="1324326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9844" tIns="165100" rIns="329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213618" y="0"/>
        <a:ext cx="3339256" cy="1324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343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016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53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141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946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2805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8808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05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5703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32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3602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5324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950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76243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352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8181D-D225-44B4-B403-9ECDBAC65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" y="1132841"/>
            <a:ext cx="11138161" cy="3287358"/>
          </a:xfrm>
        </p:spPr>
        <p:txBody>
          <a:bodyPr/>
          <a:lstStyle/>
          <a:p>
            <a:r>
              <a:rPr lang="ru-RU" cap="all" dirty="0"/>
              <a:t>ЕКОЛОГІЧНА ОСВІТА ЧЕРЕЗ ГРУ: </a:t>
            </a:r>
            <a:br>
              <a:rPr lang="en-US" cap="all" dirty="0"/>
            </a:br>
            <a:r>
              <a:rPr lang="ru-RU" cap="all" dirty="0"/>
              <a:t>"</a:t>
            </a:r>
            <a:r>
              <a:rPr lang="ru-RU" b="1" i="0" dirty="0">
                <a:solidFill>
                  <a:srgbClr val="F0F6FC"/>
                </a:solidFill>
                <a:effectLst/>
                <a:latin typeface="-apple-system"/>
              </a:rPr>
              <a:t>EcoCity — симулятор сталого міського розвитку</a:t>
            </a:r>
            <a:r>
              <a:rPr lang="ru-RU" cap="all" dirty="0"/>
              <a:t>"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8353330-4317-432A-9530-5A8427E83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1171468"/>
          </a:xfrm>
        </p:spPr>
        <p:txBody>
          <a:bodyPr>
            <a:normAutofit fontScale="92500" lnSpcReduction="10000"/>
          </a:bodyPr>
          <a:lstStyle/>
          <a:p>
            <a:r>
              <a:rPr lang="uk-UA" u="sng" dirty="0"/>
              <a:t>Роботу виконав: </a:t>
            </a:r>
            <a:br>
              <a:rPr lang="uk-UA" dirty="0"/>
            </a:br>
            <a:r>
              <a:rPr lang="uk-UA" dirty="0"/>
              <a:t>Возняк Ярема Назарович</a:t>
            </a:r>
            <a:endParaRPr lang="en-US" dirty="0"/>
          </a:p>
          <a:p>
            <a:r>
              <a:rPr lang="uk-UA" u="sng" dirty="0"/>
              <a:t>Науковий керівник: </a:t>
            </a:r>
            <a:br>
              <a:rPr lang="uk-UA" u="sng" dirty="0"/>
            </a:br>
            <a:r>
              <a:rPr lang="uk-UA" dirty="0" err="1"/>
              <a:t>Казмерчук</a:t>
            </a:r>
            <a:r>
              <a:rPr lang="uk-UA" dirty="0"/>
              <a:t> Анатолій Іванович</a:t>
            </a:r>
          </a:p>
        </p:txBody>
      </p:sp>
    </p:spTree>
    <p:extLst>
      <p:ext uri="{BB962C8B-B14F-4D97-AF65-F5344CB8AC3E}">
        <p14:creationId xmlns:p14="http://schemas.microsoft.com/office/powerpoint/2010/main" val="4172444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5940F547-7206-4401-94FB-F8421915D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101 Екологія">
            <a:extLst>
              <a:ext uri="{FF2B5EF4-FFF2-40B4-BE49-F238E27FC236}">
                <a16:creationId xmlns:a16="http://schemas.microsoft.com/office/drawing/2014/main" id="{2BC1DC30-3530-5237-1F63-71E10C116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B93C5-9E4D-470B-B3C2-6FD4A14F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uk-UA" dirty="0"/>
              <a:t>Постановка проблеми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53A85E-5E9D-48D2-82F5-3438BCCD5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/>
              <a:t>У сучасному світі однією з причин деградації довкілля є брак розуміння складності взаємозв’язків між екологією та управлінням. Мета проєкту — створити просту, але цікаву симуляцію, яка в ігровій формі розкриє суть сталого і екологічного розвитку. Кожен гравець отримує змогу відчути себе на місці керівника міста і зрозуміти, наскільки важливо враховувати екологічні аспекти під час прийняття рішень.</a:t>
            </a:r>
          </a:p>
        </p:txBody>
      </p:sp>
    </p:spTree>
    <p:extLst>
      <p:ext uri="{BB962C8B-B14F-4D97-AF65-F5344CB8AC3E}">
        <p14:creationId xmlns:p14="http://schemas.microsoft.com/office/powerpoint/2010/main" val="12033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oster with people in the background&#10;&#10;AI-generated content may be incorrect.">
            <a:extLst>
              <a:ext uri="{FF2B5EF4-FFF2-40B4-BE49-F238E27FC236}">
                <a16:creationId xmlns:a16="http://schemas.microsoft.com/office/drawing/2014/main" id="{578708BD-5C73-B3EA-4487-5323CE5F15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0373" r="2" b="14515"/>
          <a:stretch/>
        </p:blipFill>
        <p:spPr>
          <a:xfrm>
            <a:off x="6108700" y="-1"/>
            <a:ext cx="6094450" cy="6858001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8977846B-3E2A-49C0-873D-DADC1D67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2AA5F-F05E-4415-91E0-7E5E1F534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br>
              <a:rPr lang="uk-UA" sz="3400"/>
            </a:br>
            <a:r>
              <a:rPr lang="uk-UA" sz="3400"/>
              <a:t>Як вирішити цю проблему?</a:t>
            </a:r>
          </a:p>
        </p:txBody>
      </p:sp>
      <p:sp>
        <p:nvSpPr>
          <p:cNvPr id="22" name="Місце для вмісту 2">
            <a:extLst>
              <a:ext uri="{FF2B5EF4-FFF2-40B4-BE49-F238E27FC236}">
                <a16:creationId xmlns:a16="http://schemas.microsoft.com/office/drawing/2014/main" id="{B19018D1-B1F3-4E94-97CB-299ABD58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500"/>
              <a:t>Розробити гру, що демонструє причинно-наслідкові зв’язки між екологією, економікою та соціальними процесами.</a:t>
            </a:r>
            <a:r>
              <a:rPr lang="uk-UA" sz="1500"/>
              <a:t>Це сприятиме зниженню навантаження на довкілля, зменшенню відходів та сприятиме сталому розвитку у напрямку екологічно збалансованого споживання.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ru-RU" sz="1500"/>
              <a:t>Реалізувати систему динамічних змін у місті залежно від рішень гравця.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uk-UA" sz="1500"/>
              <a:t>Створити реалістичні сценарії управлінських дилем, пов’язаних з екологією.</a:t>
            </a:r>
          </a:p>
          <a:p>
            <a:pPr>
              <a:lnSpc>
                <a:spcPct val="90000"/>
              </a:lnSpc>
            </a:pPr>
            <a:r>
              <a:rPr lang="uk-UA" sz="1500"/>
              <a:t>Поширити гру як освітній інструмент.</a:t>
            </a:r>
          </a:p>
          <a:p>
            <a:pPr>
              <a:lnSpc>
                <a:spcPct val="90000"/>
              </a:lnSpc>
            </a:pPr>
            <a:endParaRPr lang="uk-UA" sz="1500"/>
          </a:p>
        </p:txBody>
      </p:sp>
    </p:spTree>
    <p:extLst>
      <p:ext uri="{BB962C8B-B14F-4D97-AF65-F5344CB8AC3E}">
        <p14:creationId xmlns:p14="http://schemas.microsoft.com/office/powerpoint/2010/main" val="21393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1ACF7-C610-4184-A1BD-05E21193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Реалізація гри </a:t>
            </a:r>
            <a:r>
              <a:rPr lang="en-US"/>
              <a:t>“EcoCity” </a:t>
            </a:r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8ACDA-1015-1A37-2976-7C13A067B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4" y="1890636"/>
            <a:ext cx="10946012" cy="496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35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838CA497-96C6-E133-06D6-1B0CBDA42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68" t="25111" r="7333" b="18741"/>
          <a:stretch/>
        </p:blipFill>
        <p:spPr>
          <a:xfrm>
            <a:off x="6543040" y="4410681"/>
            <a:ext cx="5567679" cy="211356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2E12C-DB75-441B-B05D-77E6E922D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517" y="98425"/>
            <a:ext cx="3444211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sz="4400" dirty="0"/>
              <a:t>Робота над грою</a:t>
            </a:r>
            <a:endParaRPr lang="en-US" sz="4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6FD32-A374-A24B-FCED-4BD45447E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570" y="600681"/>
            <a:ext cx="2314988" cy="3738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C9FDBF-F799-C457-02CA-CAFC5F526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642"/>
          <a:stretch/>
        </p:blipFill>
        <p:spPr>
          <a:xfrm>
            <a:off x="2161015" y="1804600"/>
            <a:ext cx="5128578" cy="43460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AD94E7-1E91-3BFD-7AB9-4BE974A91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57" y="4728210"/>
            <a:ext cx="1657350" cy="1657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1629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31F7F-A146-4797-9B0A-A87C8744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uk-UA" dirty="0"/>
              <a:t>Припущення, ризики</a:t>
            </a:r>
          </a:p>
        </p:txBody>
      </p:sp>
      <p:graphicFrame>
        <p:nvGraphicFramePr>
          <p:cNvPr id="5" name="Місце для вмісту 2">
            <a:extLst>
              <a:ext uri="{FF2B5EF4-FFF2-40B4-BE49-F238E27FC236}">
                <a16:creationId xmlns:a16="http://schemas.microsoft.com/office/drawing/2014/main" id="{87E89116-96E3-59C3-983F-3A4F041ED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00668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217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8118B-DF8D-4383-A068-72384CF2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uk-UA"/>
              <a:t>Висновки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3ED8B80-7AC2-4875-958B-37C34DD66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sz="2000"/>
              <a:t>Гра “</a:t>
            </a:r>
            <a:r>
              <a:rPr lang="en-US" sz="2000"/>
              <a:t>EcoCity</a:t>
            </a:r>
            <a:r>
              <a:rPr lang="uk-UA" sz="2000"/>
              <a:t>" демонструє, що ігрові методи можуть стати дієвим інструментом у боротьбі за свідоме майбутнє. Завдяки простому коду, хорошій ідеї та доступності, цей проєкт здатен вийти за межі шкільного проєкту і стати корисним для всіх, хто хоче більше дізнатися про екологію та навчитися приймати відповідальні рішення. </a:t>
            </a:r>
          </a:p>
          <a:p>
            <a:pPr marL="0" lvl="0" indent="0">
              <a:buNone/>
            </a:pPr>
            <a:r>
              <a:rPr lang="uk-UA" sz="2000"/>
              <a:t>З урахуванням цих факторів ми надіємося на успішність нашого проєкту та готові до подальших кроків у його покращенні.</a:t>
            </a:r>
          </a:p>
        </p:txBody>
      </p:sp>
    </p:spTree>
    <p:extLst>
      <p:ext uri="{BB962C8B-B14F-4D97-AF65-F5344CB8AC3E}">
        <p14:creationId xmlns:p14="http://schemas.microsoft.com/office/powerpoint/2010/main" val="1937912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Rectangle 3154">
            <a:extLst>
              <a:ext uri="{FF2B5EF4-FFF2-40B4-BE49-F238E27FC236}">
                <a16:creationId xmlns:a16="http://schemas.microsoft.com/office/drawing/2014/main" id="{F40F10E1-9BF3-4B81-85C9-6302BAB13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6" name="Freeform 23">
            <a:extLst>
              <a:ext uri="{FF2B5EF4-FFF2-40B4-BE49-F238E27FC236}">
                <a16:creationId xmlns:a16="http://schemas.microsoft.com/office/drawing/2014/main" id="{A36899DE-879A-4DBB-8DB4-C9B38B473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211A4-46E2-4550-A199-C6D455E1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447188"/>
            <a:ext cx="3675318" cy="5468700"/>
          </a:xfrm>
        </p:spPr>
        <p:txBody>
          <a:bodyPr anchor="ctr">
            <a:normAutofit/>
          </a:bodyPr>
          <a:lstStyle/>
          <a:p>
            <a:r>
              <a:rPr lang="uk-UA" sz="3200"/>
              <a:t>Подальші дослідження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F239B9A-ED8A-43D2-8744-21B7E9BB9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143" y="447188"/>
            <a:ext cx="6585235" cy="363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600">
                <a:solidFill>
                  <a:schemeClr val="bg1">
                    <a:lumMod val="85000"/>
                    <a:lumOff val="15000"/>
                  </a:schemeClr>
                </a:solidFill>
              </a:rPr>
              <a:t>Проєкт має потенціал подальшого розвитку:</a:t>
            </a:r>
          </a:p>
          <a:p>
            <a:r>
              <a:rPr lang="uk-UA" sz="1600">
                <a:solidFill>
                  <a:schemeClr val="bg1">
                    <a:lumMod val="85000"/>
                    <a:lumOff val="15000"/>
                  </a:schemeClr>
                </a:solidFill>
              </a:rPr>
              <a:t>додавання рівнів складності;</a:t>
            </a:r>
          </a:p>
          <a:p>
            <a:r>
              <a:rPr lang="uk-UA" sz="1600">
                <a:solidFill>
                  <a:schemeClr val="bg1">
                    <a:lumMod val="85000"/>
                    <a:lumOff val="15000"/>
                  </a:schemeClr>
                </a:solidFill>
              </a:rPr>
              <a:t>створення мультиплеєра;</a:t>
            </a:r>
          </a:p>
          <a:p>
            <a:r>
              <a:rPr lang="uk-UA" sz="1600">
                <a:solidFill>
                  <a:schemeClr val="bg1">
                    <a:lumMod val="85000"/>
                    <a:lumOff val="15000"/>
                  </a:schemeClr>
                </a:solidFill>
              </a:rPr>
              <a:t>інтеграція з навчальною програмою.</a:t>
            </a:r>
          </a:p>
        </p:txBody>
      </p:sp>
      <p:pic>
        <p:nvPicPr>
          <p:cNvPr id="3084" name="Picture 12" descr="Pharmacy Exam APK for Android Download">
            <a:extLst>
              <a:ext uri="{FF2B5EF4-FFF2-40B4-BE49-F238E27FC236}">
                <a16:creationId xmlns:a16="http://schemas.microsoft.com/office/drawing/2014/main" id="{DB0FB940-EF68-6E83-2955-784E1D229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3" t="7111" r="6348" b="62466"/>
          <a:stretch/>
        </p:blipFill>
        <p:spPr bwMode="auto">
          <a:xfrm>
            <a:off x="5233287" y="4292648"/>
            <a:ext cx="2720085" cy="1685977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igh Score Table with Saving and Loading (Unity Tutorial for Beginners)">
            <a:extLst>
              <a:ext uri="{FF2B5EF4-FFF2-40B4-BE49-F238E27FC236}">
                <a16:creationId xmlns:a16="http://schemas.microsoft.com/office/drawing/2014/main" id="{85BDA54F-7F74-8174-332A-C43329E06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52" t="29344" r="5262" b="7480"/>
          <a:stretch/>
        </p:blipFill>
        <p:spPr bwMode="auto">
          <a:xfrm>
            <a:off x="8702591" y="4292648"/>
            <a:ext cx="2532818" cy="1685977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27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84EDC-8D05-461D-A0B7-31091B21A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59" y="1286935"/>
            <a:ext cx="9638153" cy="266837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>
                <a:solidFill>
                  <a:schemeClr val="tx1"/>
                </a:solidFill>
              </a:rPr>
              <a:t>Подяки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14ACA08-6742-4D0A-8A28-ADA275DD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559" y="4116179"/>
            <a:ext cx="9638153" cy="1599642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 err="1"/>
              <a:t>Дякую</a:t>
            </a:r>
            <a:r>
              <a:rPr lang="en-US" dirty="0"/>
              <a:t> </a:t>
            </a:r>
            <a:r>
              <a:rPr lang="en-US" dirty="0" err="1"/>
              <a:t>науковому</a:t>
            </a:r>
            <a:r>
              <a:rPr lang="en-US" dirty="0"/>
              <a:t> </a:t>
            </a:r>
            <a:r>
              <a:rPr lang="en-US" dirty="0" err="1"/>
              <a:t>керівникові</a:t>
            </a:r>
            <a:r>
              <a:rPr lang="en-US" dirty="0"/>
              <a:t>, </a:t>
            </a:r>
            <a:r>
              <a:rPr lang="en-US" dirty="0" err="1"/>
              <a:t>вчителям</a:t>
            </a:r>
            <a:r>
              <a:rPr lang="en-US" dirty="0"/>
              <a:t> і </a:t>
            </a:r>
            <a:r>
              <a:rPr lang="en-US" dirty="0" err="1"/>
              <a:t>родині</a:t>
            </a:r>
            <a:r>
              <a:rPr lang="en-US" dirty="0"/>
              <a:t>, </a:t>
            </a:r>
            <a:r>
              <a:rPr lang="en-US" dirty="0" err="1"/>
              <a:t>які</a:t>
            </a:r>
            <a:r>
              <a:rPr lang="en-US" dirty="0"/>
              <a:t> </a:t>
            </a:r>
            <a:r>
              <a:rPr lang="en-US" dirty="0" err="1"/>
              <a:t>допомагали</a:t>
            </a:r>
            <a:r>
              <a:rPr lang="en-US" dirty="0"/>
              <a:t> в </a:t>
            </a:r>
            <a:r>
              <a:rPr lang="en-US" dirty="0" err="1"/>
              <a:t>роботі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проектом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253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1705</TotalTime>
  <Words>303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Century Gothic</vt:lpstr>
      <vt:lpstr>Wingdings 2</vt:lpstr>
      <vt:lpstr>Quotable</vt:lpstr>
      <vt:lpstr>ЕКОЛОГІЧНА ОСВІТА ЧЕРЕЗ ГРУ:  "EcoCity — симулятор сталого міського розвитку"</vt:lpstr>
      <vt:lpstr>Постановка проблеми</vt:lpstr>
      <vt:lpstr> Як вирішити цю проблему?</vt:lpstr>
      <vt:lpstr>Реалізація гри “EcoCity” </vt:lpstr>
      <vt:lpstr>Робота над грою</vt:lpstr>
      <vt:lpstr>Припущення, ризики</vt:lpstr>
      <vt:lpstr>Висновки</vt:lpstr>
      <vt:lpstr>Подальші дослідження</vt:lpstr>
      <vt:lpstr>Подяки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обмінна економіка за підтримки АІ: розв'язання проблеми збільшення виробництва нових товарів</dc:title>
  <dc:creator>Nazar Nazar</dc:creator>
  <cp:lastModifiedBy>Nazar Vozniak</cp:lastModifiedBy>
  <cp:revision>20</cp:revision>
  <dcterms:created xsi:type="dcterms:W3CDTF">2024-04-20T14:48:18Z</dcterms:created>
  <dcterms:modified xsi:type="dcterms:W3CDTF">2025-04-17T15:02:37Z</dcterms:modified>
</cp:coreProperties>
</file>